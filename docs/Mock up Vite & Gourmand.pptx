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</p:sldIdLst>
  <p:sldSz cx="21599525" cy="12193588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E58A00"/>
    <a:srgbClr val="FFF1BF"/>
    <a:srgbClr val="8B2E16"/>
    <a:srgbClr val="FFF7ED"/>
    <a:srgbClr val="5518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1" d="100"/>
          <a:sy n="61" d="100"/>
        </p:scale>
        <p:origin x="66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C7FB8C-569C-44A4-9967-35A214E59A12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522538" y="857250"/>
            <a:ext cx="40989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D13818-BF04-4FC0-A6F4-0BA1D345C7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7190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Accueil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3818-BF04-4FC0-A6F4-0BA1D345C783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2468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Menu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3818-BF04-4FC0-A6F4-0BA1D345C783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0056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Détail d’un menu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3818-BF04-4FC0-A6F4-0BA1D345C783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8808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Connexion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3818-BF04-4FC0-A6F4-0BA1D345C783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6671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Historique des commandes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3818-BF04-4FC0-A6F4-0BA1D345C783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6015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Gestion des commandes Employé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3818-BF04-4FC0-A6F4-0BA1D345C783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0763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Accueil (Mobile)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3818-BF04-4FC0-A6F4-0BA1D345C783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0226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Menus (seul le menu Noël) (Mobile)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3818-BF04-4FC0-A6F4-0BA1D345C783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48900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Détail d’un menu (Mobile)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3818-BF04-4FC0-A6F4-0BA1D345C783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27821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12E8D-A138-5400-2067-04431AC87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6A3E9A8-4DFB-C41D-8F74-6110044FB2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880B49B-E343-A076-1D8B-C54D0A16F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Accueil </a:t>
            </a:r>
            <a:r>
              <a:rPr lang="fr-FR" dirty="0" err="1"/>
              <a:t>WireFrame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F866F0-2A44-9869-FFA3-2A073E0E5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3818-BF04-4FC0-A6F4-0BA1D345C783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61924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A8077-E970-A333-8411-ACC767BEE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0290EDA-22FF-10FD-852E-AB65FAB8B8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2FF8118-D6FF-0B84-4E38-D23337146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Menu Wireframe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4D6A3E-3751-DD8A-BC9E-C8C3A0A896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3818-BF04-4FC0-A6F4-0BA1D345C783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39073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71BDD-8A5A-68E1-E2F6-95A4FD99B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E141D34-C927-ED57-0577-49C0B968AE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CAB4EC7-5170-111C-339F-FF2189DCE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Détail d’un menu Wireframe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AC70535-E7C0-FEB6-7C28-5D32167CCA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3818-BF04-4FC0-A6F4-0BA1D345C783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34274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2577A-4472-7FE9-D686-35E24F549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1A6FA5C-3434-22FA-878B-4DE1A60D33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3E93C07-6590-8934-1AB8-827C04349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Accueil (Mobile) Wireframe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D1609BE-0AF1-3D9E-E794-F11AE249FB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3818-BF04-4FC0-A6F4-0BA1D345C783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81425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A9DEA-23F6-3646-A4AA-32D1635FE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0370171-C9B5-0189-7106-5E24DA34E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7A67917-F66A-7C0C-93AE-EFD886DBEE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Menus (seul le menu Noël) (Mobile) Wireframe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D26E37C-08CA-F3E7-669B-39299E1108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3818-BF04-4FC0-A6F4-0BA1D345C783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21440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1C599-A216-DBEC-48D6-458CCC2A4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CCA3242-194E-9FC3-BDFC-0F2095234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234997A-4010-D307-336D-8874CE885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Détail d’un menu (Mobile) Wireframe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2B096E4-1F75-4904-F3F3-10BB546468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3818-BF04-4FC0-A6F4-0BA1D345C783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9879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41" y="1995572"/>
            <a:ext cx="16199644" cy="4245175"/>
          </a:xfrm>
        </p:spPr>
        <p:txBody>
          <a:bodyPr anchor="b"/>
          <a:lstStyle>
            <a:lvl1pPr algn="ctr">
              <a:defRPr sz="1063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6404457"/>
            <a:ext cx="16199644" cy="2943960"/>
          </a:xfrm>
        </p:spPr>
        <p:txBody>
          <a:bodyPr/>
          <a:lstStyle>
            <a:lvl1pPr marL="0" indent="0" algn="ctr">
              <a:buNone/>
              <a:defRPr sz="4252"/>
            </a:lvl1pPr>
            <a:lvl2pPr marL="809976" indent="0" algn="ctr">
              <a:buNone/>
              <a:defRPr sz="3543"/>
            </a:lvl2pPr>
            <a:lvl3pPr marL="1619951" indent="0" algn="ctr">
              <a:buNone/>
              <a:defRPr sz="3189"/>
            </a:lvl3pPr>
            <a:lvl4pPr marL="2429927" indent="0" algn="ctr">
              <a:buNone/>
              <a:defRPr sz="2835"/>
            </a:lvl4pPr>
            <a:lvl5pPr marL="3239902" indent="0" algn="ctr">
              <a:buNone/>
              <a:defRPr sz="2835"/>
            </a:lvl5pPr>
            <a:lvl6pPr marL="4049878" indent="0" algn="ctr">
              <a:buNone/>
              <a:defRPr sz="2835"/>
            </a:lvl6pPr>
            <a:lvl7pPr marL="4859853" indent="0" algn="ctr">
              <a:buNone/>
              <a:defRPr sz="2835"/>
            </a:lvl7pPr>
            <a:lvl8pPr marL="5669829" indent="0" algn="ctr">
              <a:buNone/>
              <a:defRPr sz="2835"/>
            </a:lvl8pPr>
            <a:lvl9pPr marL="6479804" indent="0" algn="ctr">
              <a:buNone/>
              <a:defRPr sz="2835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59CD7-05AA-4F04-86E7-2D5F0B4DA3FE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3562-8308-49F4-B9EC-C8DAD1E44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622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59CD7-05AA-4F04-86E7-2D5F0B4DA3FE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3562-8308-49F4-B9EC-C8DAD1E44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7103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8" y="3039931"/>
            <a:ext cx="18629590" cy="5072193"/>
          </a:xfrm>
        </p:spPr>
        <p:txBody>
          <a:bodyPr anchor="b"/>
          <a:lstStyle>
            <a:lvl1pPr>
              <a:defRPr sz="1063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8" y="8160109"/>
            <a:ext cx="18629590" cy="2667346"/>
          </a:xfrm>
        </p:spPr>
        <p:txBody>
          <a:bodyPr/>
          <a:lstStyle>
            <a:lvl1pPr marL="0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1pPr>
            <a:lvl2pPr marL="809976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2pPr>
            <a:lvl3pPr marL="1619951" indent="0">
              <a:buNone/>
              <a:defRPr sz="3189">
                <a:solidFill>
                  <a:schemeClr val="tx1">
                    <a:tint val="75000"/>
                  </a:schemeClr>
                </a:solidFill>
              </a:defRPr>
            </a:lvl3pPr>
            <a:lvl4pPr marL="242992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4pPr>
            <a:lvl5pPr marL="3239902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5pPr>
            <a:lvl6pPr marL="4049878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6pPr>
            <a:lvl7pPr marL="4859853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7pPr>
            <a:lvl8pPr marL="5669829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8pPr>
            <a:lvl9pPr marL="6479804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59CD7-05AA-4F04-86E7-2D5F0B4DA3FE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3562-8308-49F4-B9EC-C8DAD1E44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2169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3245978"/>
            <a:ext cx="9179798" cy="773672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3245978"/>
            <a:ext cx="9179798" cy="773672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59CD7-05AA-4F04-86E7-2D5F0B4DA3FE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3562-8308-49F4-B9EC-C8DAD1E44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8604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649197"/>
            <a:ext cx="18629590" cy="23568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1" y="2989124"/>
            <a:ext cx="9137611" cy="1464923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09976" indent="0">
              <a:buNone/>
              <a:defRPr sz="3543" b="1"/>
            </a:lvl2pPr>
            <a:lvl3pPr marL="1619951" indent="0">
              <a:buNone/>
              <a:defRPr sz="3189" b="1"/>
            </a:lvl3pPr>
            <a:lvl4pPr marL="2429927" indent="0">
              <a:buNone/>
              <a:defRPr sz="2835" b="1"/>
            </a:lvl4pPr>
            <a:lvl5pPr marL="3239902" indent="0">
              <a:buNone/>
              <a:defRPr sz="2835" b="1"/>
            </a:lvl5pPr>
            <a:lvl6pPr marL="4049878" indent="0">
              <a:buNone/>
              <a:defRPr sz="2835" b="1"/>
            </a:lvl6pPr>
            <a:lvl7pPr marL="4859853" indent="0">
              <a:buNone/>
              <a:defRPr sz="2835" b="1"/>
            </a:lvl7pPr>
            <a:lvl8pPr marL="5669829" indent="0">
              <a:buNone/>
              <a:defRPr sz="2835" b="1"/>
            </a:lvl8pPr>
            <a:lvl9pPr marL="6479804" indent="0">
              <a:buNone/>
              <a:defRPr sz="2835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1" y="4454047"/>
            <a:ext cx="9137611" cy="655123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0" y="2989124"/>
            <a:ext cx="9182611" cy="1464923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09976" indent="0">
              <a:buNone/>
              <a:defRPr sz="3543" b="1"/>
            </a:lvl2pPr>
            <a:lvl3pPr marL="1619951" indent="0">
              <a:buNone/>
              <a:defRPr sz="3189" b="1"/>
            </a:lvl3pPr>
            <a:lvl4pPr marL="2429927" indent="0">
              <a:buNone/>
              <a:defRPr sz="2835" b="1"/>
            </a:lvl4pPr>
            <a:lvl5pPr marL="3239902" indent="0">
              <a:buNone/>
              <a:defRPr sz="2835" b="1"/>
            </a:lvl5pPr>
            <a:lvl6pPr marL="4049878" indent="0">
              <a:buNone/>
              <a:defRPr sz="2835" b="1"/>
            </a:lvl6pPr>
            <a:lvl7pPr marL="4859853" indent="0">
              <a:buNone/>
              <a:defRPr sz="2835" b="1"/>
            </a:lvl7pPr>
            <a:lvl8pPr marL="5669829" indent="0">
              <a:buNone/>
              <a:defRPr sz="2835" b="1"/>
            </a:lvl8pPr>
            <a:lvl9pPr marL="6479804" indent="0">
              <a:buNone/>
              <a:defRPr sz="2835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0" y="4454047"/>
            <a:ext cx="9182611" cy="655123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59CD7-05AA-4F04-86E7-2D5F0B4DA3FE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3562-8308-49F4-B9EC-C8DAD1E44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0921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59CD7-05AA-4F04-86E7-2D5F0B4DA3FE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3562-8308-49F4-B9EC-C8DAD1E44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7032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59CD7-05AA-4F04-86E7-2D5F0B4DA3FE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3562-8308-49F4-B9EC-C8DAD1E44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5498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812906"/>
            <a:ext cx="6966408" cy="2845171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1755652"/>
            <a:ext cx="10934760" cy="8665351"/>
          </a:xfrm>
        </p:spPr>
        <p:txBody>
          <a:bodyPr/>
          <a:lstStyle>
            <a:lvl1pPr>
              <a:defRPr sz="5669"/>
            </a:lvl1pPr>
            <a:lvl2pPr>
              <a:defRPr sz="4960"/>
            </a:lvl2pPr>
            <a:lvl3pPr>
              <a:defRPr sz="4252"/>
            </a:lvl3pPr>
            <a:lvl4pPr>
              <a:defRPr sz="3543"/>
            </a:lvl4pPr>
            <a:lvl5pPr>
              <a:defRPr sz="3543"/>
            </a:lvl5pPr>
            <a:lvl6pPr>
              <a:defRPr sz="3543"/>
            </a:lvl6pPr>
            <a:lvl7pPr>
              <a:defRPr sz="3543"/>
            </a:lvl7pPr>
            <a:lvl8pPr>
              <a:defRPr sz="3543"/>
            </a:lvl8pPr>
            <a:lvl9pPr>
              <a:defRPr sz="3543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3658076"/>
            <a:ext cx="6966408" cy="6777039"/>
          </a:xfrm>
        </p:spPr>
        <p:txBody>
          <a:bodyPr/>
          <a:lstStyle>
            <a:lvl1pPr marL="0" indent="0">
              <a:buNone/>
              <a:defRPr sz="2835"/>
            </a:lvl1pPr>
            <a:lvl2pPr marL="809976" indent="0">
              <a:buNone/>
              <a:defRPr sz="2480"/>
            </a:lvl2pPr>
            <a:lvl3pPr marL="1619951" indent="0">
              <a:buNone/>
              <a:defRPr sz="2126"/>
            </a:lvl3pPr>
            <a:lvl4pPr marL="2429927" indent="0">
              <a:buNone/>
              <a:defRPr sz="1772"/>
            </a:lvl4pPr>
            <a:lvl5pPr marL="3239902" indent="0">
              <a:buNone/>
              <a:defRPr sz="1772"/>
            </a:lvl5pPr>
            <a:lvl6pPr marL="4049878" indent="0">
              <a:buNone/>
              <a:defRPr sz="1772"/>
            </a:lvl6pPr>
            <a:lvl7pPr marL="4859853" indent="0">
              <a:buNone/>
              <a:defRPr sz="1772"/>
            </a:lvl7pPr>
            <a:lvl8pPr marL="5669829" indent="0">
              <a:buNone/>
              <a:defRPr sz="1772"/>
            </a:lvl8pPr>
            <a:lvl9pPr marL="6479804" indent="0">
              <a:buNone/>
              <a:defRPr sz="177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59CD7-05AA-4F04-86E7-2D5F0B4DA3FE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3562-8308-49F4-B9EC-C8DAD1E44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535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812906"/>
            <a:ext cx="6966408" cy="2845171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1755652"/>
            <a:ext cx="10934760" cy="8665351"/>
          </a:xfrm>
        </p:spPr>
        <p:txBody>
          <a:bodyPr anchor="t"/>
          <a:lstStyle>
            <a:lvl1pPr marL="0" indent="0">
              <a:buNone/>
              <a:defRPr sz="5669"/>
            </a:lvl1pPr>
            <a:lvl2pPr marL="809976" indent="0">
              <a:buNone/>
              <a:defRPr sz="4960"/>
            </a:lvl2pPr>
            <a:lvl3pPr marL="1619951" indent="0">
              <a:buNone/>
              <a:defRPr sz="4252"/>
            </a:lvl3pPr>
            <a:lvl4pPr marL="2429927" indent="0">
              <a:buNone/>
              <a:defRPr sz="3543"/>
            </a:lvl4pPr>
            <a:lvl5pPr marL="3239902" indent="0">
              <a:buNone/>
              <a:defRPr sz="3543"/>
            </a:lvl5pPr>
            <a:lvl6pPr marL="4049878" indent="0">
              <a:buNone/>
              <a:defRPr sz="3543"/>
            </a:lvl6pPr>
            <a:lvl7pPr marL="4859853" indent="0">
              <a:buNone/>
              <a:defRPr sz="3543"/>
            </a:lvl7pPr>
            <a:lvl8pPr marL="5669829" indent="0">
              <a:buNone/>
              <a:defRPr sz="3543"/>
            </a:lvl8pPr>
            <a:lvl9pPr marL="6479804" indent="0">
              <a:buNone/>
              <a:defRPr sz="3543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3658076"/>
            <a:ext cx="6966408" cy="6777039"/>
          </a:xfrm>
        </p:spPr>
        <p:txBody>
          <a:bodyPr/>
          <a:lstStyle>
            <a:lvl1pPr marL="0" indent="0">
              <a:buNone/>
              <a:defRPr sz="2835"/>
            </a:lvl1pPr>
            <a:lvl2pPr marL="809976" indent="0">
              <a:buNone/>
              <a:defRPr sz="2480"/>
            </a:lvl2pPr>
            <a:lvl3pPr marL="1619951" indent="0">
              <a:buNone/>
              <a:defRPr sz="2126"/>
            </a:lvl3pPr>
            <a:lvl4pPr marL="2429927" indent="0">
              <a:buNone/>
              <a:defRPr sz="1772"/>
            </a:lvl4pPr>
            <a:lvl5pPr marL="3239902" indent="0">
              <a:buNone/>
              <a:defRPr sz="1772"/>
            </a:lvl5pPr>
            <a:lvl6pPr marL="4049878" indent="0">
              <a:buNone/>
              <a:defRPr sz="1772"/>
            </a:lvl6pPr>
            <a:lvl7pPr marL="4859853" indent="0">
              <a:buNone/>
              <a:defRPr sz="1772"/>
            </a:lvl7pPr>
            <a:lvl8pPr marL="5669829" indent="0">
              <a:buNone/>
              <a:defRPr sz="1772"/>
            </a:lvl8pPr>
            <a:lvl9pPr marL="6479804" indent="0">
              <a:buNone/>
              <a:defRPr sz="177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59CD7-05AA-4F04-86E7-2D5F0B4DA3FE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3562-8308-49F4-B9EC-C8DAD1E44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5587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59CD7-05AA-4F04-86E7-2D5F0B4DA3FE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3562-8308-49F4-B9EC-C8DAD1E44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7831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0" y="649196"/>
            <a:ext cx="4657398" cy="10333502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7" y="649196"/>
            <a:ext cx="13702199" cy="10333502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59CD7-05AA-4F04-86E7-2D5F0B4DA3FE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3562-8308-49F4-B9EC-C8DAD1E44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9792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649197"/>
            <a:ext cx="18629590" cy="23568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3245978"/>
            <a:ext cx="18629590" cy="7736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11301650"/>
            <a:ext cx="4859893" cy="6491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59CD7-05AA-4F04-86E7-2D5F0B4DA3FE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11301650"/>
            <a:ext cx="7289840" cy="6491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11301650"/>
            <a:ext cx="4859893" cy="6491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3562-8308-49F4-B9EC-C8DAD1E44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746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619951" rtl="0" eaLnBrk="1" latinLnBrk="0" hangingPunct="1">
        <a:lnSpc>
          <a:spcPct val="90000"/>
        </a:lnSpc>
        <a:spcBef>
          <a:spcPct val="0"/>
        </a:spcBef>
        <a:buNone/>
        <a:defRPr sz="77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4988" indent="-404988" algn="l" defTabSz="1619951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4960" kern="1200">
          <a:solidFill>
            <a:schemeClr val="tx1"/>
          </a:solidFill>
          <a:latin typeface="+mn-lt"/>
          <a:ea typeface="+mn-ea"/>
          <a:cs typeface="+mn-cs"/>
        </a:defRPr>
      </a:lvl1pPr>
      <a:lvl2pPr marL="1214963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024939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834914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644890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454865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5264841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6074816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884792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1pPr>
      <a:lvl2pPr marL="809976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2pPr>
      <a:lvl3pPr marL="1619951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3pPr>
      <a:lvl4pPr marL="2429927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239902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049878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4859853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5669829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479804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localhost/vite-gourmand/public/index.php?page=forgot_password" TargetMode="External"/><Relationship Id="rId4" Type="http://schemas.openxmlformats.org/officeDocument/2006/relationships/hyperlink" Target="http://localhost/vite-gourmand/public/index.php?page=register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vite-gourmand/public/index.php?page=logi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vite-gourmand/public/index.php?page=menu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hyperlink" Target="http://localhost/vite-gourmand/public/index.php?page=menu&amp;id=1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vite-gourmand/public/index.php?page=menu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7E103BF-260A-13D6-B79A-C74EA8E807F5}"/>
              </a:ext>
            </a:extLst>
          </p:cNvPr>
          <p:cNvSpPr/>
          <p:nvPr/>
        </p:nvSpPr>
        <p:spPr>
          <a:xfrm>
            <a:off x="7228933" y="1721963"/>
            <a:ext cx="7470474" cy="2048037"/>
          </a:xfrm>
          <a:prstGeom prst="roundRect">
            <a:avLst/>
          </a:prstGeom>
          <a:solidFill>
            <a:srgbClr val="8B2E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23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9883608-E1D7-68A8-BE99-A27C686AF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91739"/>
            <a:ext cx="21599525" cy="792655"/>
          </a:xfrm>
          <a:solidFill>
            <a:srgbClr val="8B2E16"/>
          </a:solidFill>
        </p:spPr>
        <p:txBody>
          <a:bodyPr>
            <a:normAutofit/>
          </a:bodyPr>
          <a:lstStyle/>
          <a:p>
            <a:r>
              <a:rPr lang="fr-FR" sz="1915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B7CADFD-7D3C-FF97-E8BA-3BF8BEBD20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8933" y="1210976"/>
            <a:ext cx="7470475" cy="2309061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8B2E16"/>
          </a:solidFill>
        </p:spPr>
        <p:txBody>
          <a:bodyPr>
            <a:normAutofit/>
          </a:bodyPr>
          <a:lstStyle/>
          <a:p>
            <a:pPr algn="l"/>
            <a:r>
              <a:rPr lang="fr-FR" dirty="0">
                <a:solidFill>
                  <a:schemeClr val="bg1"/>
                </a:solidFill>
              </a:rPr>
              <a:t>Traiteur évènementiel à Bordeaux depuis 25 ans</a:t>
            </a:r>
          </a:p>
          <a:p>
            <a:pPr algn="l"/>
            <a:r>
              <a:rPr lang="fr-FR" sz="1149" dirty="0">
                <a:solidFill>
                  <a:schemeClr val="bg1"/>
                </a:solidFill>
              </a:rPr>
              <a:t>Julie et José accompagnent vos repas de famille, évènements professionnels, Noël, Pâques et prestations sur mesure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72A0025-FE1A-1FD0-7CF4-8F3E861CDA61}"/>
              </a:ext>
            </a:extLst>
          </p:cNvPr>
          <p:cNvSpPr txBox="1"/>
          <p:nvPr/>
        </p:nvSpPr>
        <p:spPr>
          <a:xfrm>
            <a:off x="792952" y="341591"/>
            <a:ext cx="3051420" cy="475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89" dirty="0">
                <a:solidFill>
                  <a:schemeClr val="bg1"/>
                </a:solidFill>
              </a:rPr>
              <a:t>Vite et Gourmand</a:t>
            </a:r>
          </a:p>
        </p:txBody>
      </p:sp>
      <p:pic>
        <p:nvPicPr>
          <p:cNvPr id="7" name="Image 6" descr="Logo Vite &amp; Gourmand">
            <a:extLst>
              <a:ext uri="{FF2B5EF4-FFF2-40B4-BE49-F238E27FC236}">
                <a16:creationId xmlns:a16="http://schemas.microsoft.com/office/drawing/2014/main" id="{9385FFCC-6094-B3E0-D87D-4E1ADF3A5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40" y="302874"/>
            <a:ext cx="551412" cy="55141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B2B42E-86BA-912F-2291-7CE9AE093BE5}"/>
              </a:ext>
            </a:extLst>
          </p:cNvPr>
          <p:cNvSpPr/>
          <p:nvPr/>
        </p:nvSpPr>
        <p:spPr>
          <a:xfrm>
            <a:off x="14965850" y="388522"/>
            <a:ext cx="6186119" cy="428456"/>
          </a:xfrm>
          <a:prstGeom prst="rect">
            <a:avLst/>
          </a:prstGeom>
          <a:solidFill>
            <a:srgbClr val="8B2E1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723" dirty="0">
                <a:solidFill>
                  <a:schemeClr val="bg1"/>
                </a:solidFill>
              </a:rPr>
              <a:t>Accueil               Menus            Contact            Connexion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A7C4A3-4FE0-483F-774B-CCE6C75B60AA}"/>
              </a:ext>
            </a:extLst>
          </p:cNvPr>
          <p:cNvSpPr/>
          <p:nvPr/>
        </p:nvSpPr>
        <p:spPr>
          <a:xfrm>
            <a:off x="7395630" y="3016911"/>
            <a:ext cx="1081336" cy="253170"/>
          </a:xfrm>
          <a:prstGeom prst="rect">
            <a:avLst/>
          </a:prstGeom>
          <a:solidFill>
            <a:srgbClr val="E58A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49" dirty="0"/>
              <a:t>Voir les menus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ED0A587E-D6EE-99D9-96BE-EAE79C8BA901}"/>
              </a:ext>
            </a:extLst>
          </p:cNvPr>
          <p:cNvSpPr/>
          <p:nvPr/>
        </p:nvSpPr>
        <p:spPr>
          <a:xfrm>
            <a:off x="7228933" y="5461307"/>
            <a:ext cx="7470475" cy="4549378"/>
          </a:xfrm>
          <a:prstGeom prst="roundRect">
            <a:avLst>
              <a:gd name="adj" fmla="val 5307"/>
            </a:avLst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23" dirty="0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889505F5-C63B-14D7-F327-35AD750E24AB}"/>
              </a:ext>
            </a:extLst>
          </p:cNvPr>
          <p:cNvSpPr/>
          <p:nvPr/>
        </p:nvSpPr>
        <p:spPr>
          <a:xfrm>
            <a:off x="7936298" y="6261221"/>
            <a:ext cx="6055743" cy="957928"/>
          </a:xfrm>
          <a:prstGeom prst="roundRect">
            <a:avLst/>
          </a:prstGeom>
          <a:solidFill>
            <a:srgbClr val="FFF1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Zakia — 3/5</a:t>
            </a:r>
            <a:endParaRPr lang="fr-FR" sz="1600" b="1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Note moyenne salle bruyante, prix assez élevés mais le repas était très bon</a:t>
            </a:r>
          </a:p>
          <a:p>
            <a:pPr algn="ctr"/>
            <a:endParaRPr lang="fr-FR" sz="1723" dirty="0">
              <a:solidFill>
                <a:schemeClr val="tx1"/>
              </a:solidFill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CB4535C5-D94A-0A88-B851-CD48653B25E2}"/>
              </a:ext>
            </a:extLst>
          </p:cNvPr>
          <p:cNvSpPr/>
          <p:nvPr/>
        </p:nvSpPr>
        <p:spPr>
          <a:xfrm>
            <a:off x="7936298" y="7515896"/>
            <a:ext cx="6055743" cy="957928"/>
          </a:xfrm>
          <a:prstGeom prst="roundRect">
            <a:avLst/>
          </a:prstGeom>
          <a:solidFill>
            <a:srgbClr val="FFF1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Zakia — 5/5</a:t>
            </a:r>
            <a:endParaRPr lang="fr-FR" sz="1600" b="1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Menu très bien présenté et l'accueil était chaleureux. Je recommande ce restaurant.</a:t>
            </a:r>
          </a:p>
          <a:p>
            <a:pPr algn="ctr"/>
            <a:endParaRPr lang="fr-FR" sz="1723" dirty="0">
              <a:solidFill>
                <a:schemeClr val="tx1"/>
              </a:solidFill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5DA551E9-CA78-CF49-6F46-BEB1D74D5513}"/>
              </a:ext>
            </a:extLst>
          </p:cNvPr>
          <p:cNvSpPr/>
          <p:nvPr/>
        </p:nvSpPr>
        <p:spPr>
          <a:xfrm>
            <a:off x="7936298" y="8728661"/>
            <a:ext cx="6055744" cy="999838"/>
          </a:xfrm>
          <a:prstGeom prst="roundRect">
            <a:avLst/>
          </a:prstGeom>
          <a:solidFill>
            <a:srgbClr val="FFF1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Julie — 5/5</a:t>
            </a:r>
            <a:endParaRPr lang="fr-FR" sz="1600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Très belle prestation et livraison ponctuelle</a:t>
            </a:r>
            <a:r>
              <a:rPr lang="fr-FR" dirty="0"/>
              <a:t>.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26D3B74A-4D6D-4422-A58B-2DFCCA3C40DA}"/>
              </a:ext>
            </a:extLst>
          </p:cNvPr>
          <p:cNvSpPr/>
          <p:nvPr/>
        </p:nvSpPr>
        <p:spPr>
          <a:xfrm>
            <a:off x="7228933" y="4024837"/>
            <a:ext cx="7470475" cy="1139723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Notre professionnalisme</a:t>
            </a:r>
          </a:p>
          <a:p>
            <a:r>
              <a:rPr lang="fr-FR" dirty="0">
                <a:solidFill>
                  <a:schemeClr val="tx1"/>
                </a:solidFill>
              </a:rPr>
              <a:t>Menus évolutifs, commande suivie, conditions visibles, gestion des allergènes et communication par mail à chaque étape importante.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E0E3847-EBDE-FEE7-8F41-10407024348A}"/>
              </a:ext>
            </a:extLst>
          </p:cNvPr>
          <p:cNvSpPr txBox="1"/>
          <p:nvPr/>
        </p:nvSpPr>
        <p:spPr>
          <a:xfrm>
            <a:off x="7936298" y="5736983"/>
            <a:ext cx="5055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Avis clients validés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2BFEB9-8DFC-F57D-5E74-A65D2B1CDE77}"/>
              </a:ext>
            </a:extLst>
          </p:cNvPr>
          <p:cNvSpPr/>
          <p:nvPr/>
        </p:nvSpPr>
        <p:spPr>
          <a:xfrm>
            <a:off x="-1" y="10165240"/>
            <a:ext cx="21599525" cy="1044632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Horaires</a:t>
            </a:r>
          </a:p>
          <a:p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Lundi à dimanche : 8h00 - 20h00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0CA6AE8-6E68-EA2D-AB7E-6286AA6DC456}"/>
              </a:ext>
            </a:extLst>
          </p:cNvPr>
          <p:cNvSpPr txBox="1"/>
          <p:nvPr/>
        </p:nvSpPr>
        <p:spPr>
          <a:xfrm>
            <a:off x="241540" y="11714672"/>
            <a:ext cx="4960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>
                <a:solidFill>
                  <a:srgbClr val="5518AB"/>
                </a:solidFill>
              </a:rPr>
              <a:t>Mentions légales</a:t>
            </a:r>
            <a:r>
              <a:rPr lang="fr-FR" dirty="0">
                <a:solidFill>
                  <a:srgbClr val="5518AB"/>
                </a:solidFill>
              </a:rPr>
              <a:t> </a:t>
            </a:r>
            <a:r>
              <a:rPr lang="fr-FR" u="sng" dirty="0">
                <a:solidFill>
                  <a:srgbClr val="5518AB"/>
                </a:solidFill>
              </a:rPr>
              <a:t>Conditions générales de vente</a:t>
            </a:r>
          </a:p>
        </p:txBody>
      </p:sp>
    </p:spTree>
    <p:extLst>
      <p:ext uri="{BB962C8B-B14F-4D97-AF65-F5344CB8AC3E}">
        <p14:creationId xmlns:p14="http://schemas.microsoft.com/office/powerpoint/2010/main" val="2724304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DEAD83-D603-08EE-0105-53A9795DB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DC3FD6F3-5099-7F99-B1CC-0E9BB51F1534}"/>
              </a:ext>
            </a:extLst>
          </p:cNvPr>
          <p:cNvSpPr txBox="1">
            <a:spLocks/>
          </p:cNvSpPr>
          <p:nvPr/>
        </p:nvSpPr>
        <p:spPr>
          <a:xfrm>
            <a:off x="0" y="191739"/>
            <a:ext cx="21599525" cy="792655"/>
          </a:xfrm>
          <a:prstGeom prst="rect">
            <a:avLst/>
          </a:prstGeom>
          <a:solidFill>
            <a:srgbClr val="8B2E16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16199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7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915" b="1">
                <a:solidFill>
                  <a:schemeClr val="bg1"/>
                </a:solidFill>
              </a:rPr>
              <a:t> </a:t>
            </a:r>
            <a:endParaRPr lang="fr-FR" sz="1915" b="1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2B8631A-8F52-9963-DB48-688519DBA199}"/>
              </a:ext>
            </a:extLst>
          </p:cNvPr>
          <p:cNvSpPr txBox="1"/>
          <p:nvPr/>
        </p:nvSpPr>
        <p:spPr>
          <a:xfrm>
            <a:off x="792952" y="341591"/>
            <a:ext cx="3051420" cy="475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89" dirty="0">
                <a:solidFill>
                  <a:schemeClr val="bg1"/>
                </a:solidFill>
              </a:rPr>
              <a:t>Vite et Gourmand</a:t>
            </a:r>
          </a:p>
        </p:txBody>
      </p:sp>
      <p:pic>
        <p:nvPicPr>
          <p:cNvPr id="5" name="Image 4" descr="Logo Vite &amp; Gourmand">
            <a:extLst>
              <a:ext uri="{FF2B5EF4-FFF2-40B4-BE49-F238E27FC236}">
                <a16:creationId xmlns:a16="http://schemas.microsoft.com/office/drawing/2014/main" id="{29128BED-5E58-0384-C519-45ACD99F3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40" y="302874"/>
            <a:ext cx="551412" cy="5514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198D09-C95F-5AED-B7F4-3D97BEAA500E}"/>
              </a:ext>
            </a:extLst>
          </p:cNvPr>
          <p:cNvSpPr/>
          <p:nvPr/>
        </p:nvSpPr>
        <p:spPr>
          <a:xfrm>
            <a:off x="14965850" y="388522"/>
            <a:ext cx="6186119" cy="428456"/>
          </a:xfrm>
          <a:prstGeom prst="rect">
            <a:avLst/>
          </a:prstGeom>
          <a:solidFill>
            <a:srgbClr val="8B2E1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723" dirty="0">
                <a:solidFill>
                  <a:schemeClr val="bg1"/>
                </a:solidFill>
              </a:rPr>
              <a:t>Accueil              Menus             Contact               Connexion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3DBB50-E29E-2515-6989-02FD2F9AE843}"/>
              </a:ext>
            </a:extLst>
          </p:cNvPr>
          <p:cNvSpPr/>
          <p:nvPr/>
        </p:nvSpPr>
        <p:spPr>
          <a:xfrm>
            <a:off x="-2" y="10499759"/>
            <a:ext cx="21599525" cy="1044632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Horaires</a:t>
            </a:r>
          </a:p>
          <a:p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Lundi à dimanche : 8h00 - 20h00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9512274-177C-D22C-DE15-300CFA47F9F7}"/>
              </a:ext>
            </a:extLst>
          </p:cNvPr>
          <p:cNvSpPr txBox="1"/>
          <p:nvPr/>
        </p:nvSpPr>
        <p:spPr>
          <a:xfrm>
            <a:off x="241540" y="11714672"/>
            <a:ext cx="4960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>
                <a:solidFill>
                  <a:srgbClr val="5518AB"/>
                </a:solidFill>
              </a:rPr>
              <a:t>Mentions légales</a:t>
            </a:r>
            <a:r>
              <a:rPr lang="fr-FR" dirty="0">
                <a:solidFill>
                  <a:srgbClr val="5518AB"/>
                </a:solidFill>
              </a:rPr>
              <a:t> </a:t>
            </a:r>
            <a:r>
              <a:rPr lang="fr-FR" u="sng" dirty="0">
                <a:solidFill>
                  <a:srgbClr val="5518AB"/>
                </a:solidFill>
              </a:rPr>
              <a:t>Conditions générales de vente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56C6AF4A-6556-BE40-92CF-D7BBDAE43787}"/>
              </a:ext>
            </a:extLst>
          </p:cNvPr>
          <p:cNvSpPr/>
          <p:nvPr/>
        </p:nvSpPr>
        <p:spPr>
          <a:xfrm>
            <a:off x="5960342" y="1274436"/>
            <a:ext cx="9678838" cy="9055041"/>
          </a:xfrm>
          <a:prstGeom prst="roundRect">
            <a:avLst>
              <a:gd name="adj" fmla="val 3224"/>
            </a:avLst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4133109F-746C-AA0D-1BC6-58E7D51D4F4E}"/>
              </a:ext>
            </a:extLst>
          </p:cNvPr>
          <p:cNvSpPr/>
          <p:nvPr/>
        </p:nvSpPr>
        <p:spPr>
          <a:xfrm>
            <a:off x="6361450" y="1441852"/>
            <a:ext cx="8902460" cy="8702812"/>
          </a:xfrm>
          <a:prstGeom prst="roundRect">
            <a:avLst>
              <a:gd name="adj" fmla="val 3153"/>
            </a:avLst>
          </a:prstGeom>
          <a:solidFill>
            <a:srgbClr val="FFF1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8C933D-66D0-B983-EAF3-D511723A6AD4}"/>
              </a:ext>
            </a:extLst>
          </p:cNvPr>
          <p:cNvSpPr/>
          <p:nvPr/>
        </p:nvSpPr>
        <p:spPr>
          <a:xfrm>
            <a:off x="6620754" y="1579875"/>
            <a:ext cx="8358015" cy="656694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B866EA6-6B18-E827-A0E6-A6A2C1DC05EB}"/>
              </a:ext>
            </a:extLst>
          </p:cNvPr>
          <p:cNvSpPr txBox="1"/>
          <p:nvPr/>
        </p:nvSpPr>
        <p:spPr>
          <a:xfrm>
            <a:off x="6763108" y="8281358"/>
            <a:ext cx="58314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Menu Noël Gourmand</a:t>
            </a:r>
          </a:p>
          <a:p>
            <a:r>
              <a:rPr lang="fr-FR" dirty="0"/>
              <a:t>Menu festif complet pour repas de Noël.</a:t>
            </a:r>
          </a:p>
          <a:p>
            <a:r>
              <a:rPr lang="fr-FR" dirty="0"/>
              <a:t>Dès 10 personnes · 350,00 </a:t>
            </a:r>
          </a:p>
          <a:p>
            <a:endParaRPr lang="fr-FR" dirty="0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B0832405-B177-76A8-E7DB-E9C779E3DA8D}"/>
              </a:ext>
            </a:extLst>
          </p:cNvPr>
          <p:cNvSpPr/>
          <p:nvPr/>
        </p:nvSpPr>
        <p:spPr>
          <a:xfrm>
            <a:off x="6763108" y="9481687"/>
            <a:ext cx="1466492" cy="490449"/>
          </a:xfrm>
          <a:prstGeom prst="roundRect">
            <a:avLst/>
          </a:prstGeom>
          <a:solidFill>
            <a:srgbClr val="E58A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/>
              <a:t>Voir le détail</a:t>
            </a:r>
          </a:p>
        </p:txBody>
      </p:sp>
    </p:spTree>
    <p:extLst>
      <p:ext uri="{BB962C8B-B14F-4D97-AF65-F5344CB8AC3E}">
        <p14:creationId xmlns:p14="http://schemas.microsoft.com/office/powerpoint/2010/main" val="155877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7EF57E-CD2D-2B06-E665-50F3AC9B2A85}"/>
              </a:ext>
            </a:extLst>
          </p:cNvPr>
          <p:cNvSpPr txBox="1">
            <a:spLocks/>
          </p:cNvSpPr>
          <p:nvPr/>
        </p:nvSpPr>
        <p:spPr>
          <a:xfrm>
            <a:off x="-2" y="203429"/>
            <a:ext cx="21599525" cy="650857"/>
          </a:xfrm>
          <a:prstGeom prst="rect">
            <a:avLst/>
          </a:prstGeom>
          <a:solidFill>
            <a:srgbClr val="8B2E16"/>
          </a:solidFill>
        </p:spPr>
        <p:txBody>
          <a:bodyPr>
            <a:normAutofit/>
          </a:bodyPr>
          <a:lstStyle>
            <a:lvl1pPr algn="l" defTabSz="16199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7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915" b="1">
                <a:solidFill>
                  <a:schemeClr val="bg1"/>
                </a:solidFill>
              </a:rPr>
              <a:t> </a:t>
            </a:r>
            <a:endParaRPr lang="fr-FR" sz="1915" b="1" dirty="0">
              <a:solidFill>
                <a:schemeClr val="bg1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CDB7B2C-3C56-6961-567E-46B218A6286E}"/>
              </a:ext>
            </a:extLst>
          </p:cNvPr>
          <p:cNvSpPr txBox="1"/>
          <p:nvPr/>
        </p:nvSpPr>
        <p:spPr>
          <a:xfrm>
            <a:off x="792952" y="341591"/>
            <a:ext cx="3051420" cy="475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89" dirty="0">
                <a:solidFill>
                  <a:schemeClr val="bg1"/>
                </a:solidFill>
              </a:rPr>
              <a:t>Vite et Gourmand</a:t>
            </a:r>
          </a:p>
        </p:txBody>
      </p:sp>
      <p:pic>
        <p:nvPicPr>
          <p:cNvPr id="4" name="Image 3" descr="Logo Vite &amp; Gourmand">
            <a:extLst>
              <a:ext uri="{FF2B5EF4-FFF2-40B4-BE49-F238E27FC236}">
                <a16:creationId xmlns:a16="http://schemas.microsoft.com/office/drawing/2014/main" id="{BDEE2386-7461-62CB-1AC2-92A858F74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40" y="302874"/>
            <a:ext cx="551412" cy="55141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5CA770F-8C3C-804F-51F9-9BD8977CA818}"/>
              </a:ext>
            </a:extLst>
          </p:cNvPr>
          <p:cNvSpPr/>
          <p:nvPr/>
        </p:nvSpPr>
        <p:spPr>
          <a:xfrm>
            <a:off x="14965850" y="335590"/>
            <a:ext cx="6186119" cy="428456"/>
          </a:xfrm>
          <a:prstGeom prst="rect">
            <a:avLst/>
          </a:prstGeom>
          <a:solidFill>
            <a:srgbClr val="8B2E1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723" dirty="0">
                <a:solidFill>
                  <a:schemeClr val="bg1"/>
                </a:solidFill>
              </a:rPr>
              <a:t>Accueil               Menus             Contact            Connexion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B68C1C-0BCD-4254-4FE4-9FE7656B5BAD}"/>
              </a:ext>
            </a:extLst>
          </p:cNvPr>
          <p:cNvSpPr/>
          <p:nvPr/>
        </p:nvSpPr>
        <p:spPr>
          <a:xfrm>
            <a:off x="-1" y="10165240"/>
            <a:ext cx="21599525" cy="1044632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Horaires</a:t>
            </a:r>
          </a:p>
          <a:p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Lundi à dimanche : 8h00 - 20h00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B3DFCCA-CD43-0886-F90E-944BEB405D5D}"/>
              </a:ext>
            </a:extLst>
          </p:cNvPr>
          <p:cNvSpPr txBox="1"/>
          <p:nvPr/>
        </p:nvSpPr>
        <p:spPr>
          <a:xfrm>
            <a:off x="241540" y="11714672"/>
            <a:ext cx="4960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>
                <a:solidFill>
                  <a:srgbClr val="5518AB"/>
                </a:solidFill>
              </a:rPr>
              <a:t>Mentions légales</a:t>
            </a:r>
            <a:r>
              <a:rPr lang="fr-FR" dirty="0">
                <a:solidFill>
                  <a:srgbClr val="5518AB"/>
                </a:solidFill>
              </a:rPr>
              <a:t> </a:t>
            </a:r>
            <a:r>
              <a:rPr lang="fr-FR" u="sng" dirty="0">
                <a:solidFill>
                  <a:srgbClr val="5518AB"/>
                </a:solidFill>
              </a:rPr>
              <a:t>Conditions générales de vente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2316F208-0E62-F991-57EE-102DBE18358E}"/>
              </a:ext>
            </a:extLst>
          </p:cNvPr>
          <p:cNvSpPr/>
          <p:nvPr/>
        </p:nvSpPr>
        <p:spPr>
          <a:xfrm>
            <a:off x="5510462" y="840390"/>
            <a:ext cx="10948737" cy="3705728"/>
          </a:xfrm>
          <a:prstGeom prst="roundRect">
            <a:avLst>
              <a:gd name="adj" fmla="val 3960"/>
            </a:avLst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68B3734-32E3-D8FA-EEB5-FD973C9303F8}"/>
              </a:ext>
            </a:extLst>
          </p:cNvPr>
          <p:cNvSpPr txBox="1"/>
          <p:nvPr/>
        </p:nvSpPr>
        <p:spPr>
          <a:xfrm>
            <a:off x="5510462" y="4548586"/>
            <a:ext cx="926431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Menu festif complet pour repas de Noël.</a:t>
            </a:r>
          </a:p>
          <a:p>
            <a:r>
              <a:rPr lang="fr-FR" b="1" dirty="0"/>
              <a:t>Thème :</a:t>
            </a:r>
            <a:r>
              <a:rPr lang="fr-FR" dirty="0"/>
              <a:t> Noël · </a:t>
            </a:r>
            <a:r>
              <a:rPr lang="fr-FR" b="1" dirty="0"/>
              <a:t>Régime :</a:t>
            </a:r>
            <a:r>
              <a:rPr lang="fr-FR" dirty="0"/>
              <a:t> Classique</a:t>
            </a:r>
          </a:p>
          <a:p>
            <a:r>
              <a:rPr lang="fr-FR" b="1" dirty="0"/>
              <a:t>Minimum :</a:t>
            </a:r>
            <a:r>
              <a:rPr lang="fr-FR" dirty="0"/>
              <a:t> 10 personnes · </a:t>
            </a:r>
            <a:r>
              <a:rPr lang="fr-FR" b="1" dirty="0"/>
              <a:t>Prix :</a:t>
            </a:r>
            <a:r>
              <a:rPr lang="fr-FR" dirty="0"/>
              <a:t> 350,00 € · </a:t>
            </a:r>
            <a:r>
              <a:rPr lang="fr-FR" b="1" dirty="0"/>
              <a:t>Stock :</a:t>
            </a:r>
            <a:r>
              <a:rPr lang="fr-FR" dirty="0"/>
              <a:t> 5</a:t>
            </a:r>
          </a:p>
          <a:p>
            <a:endParaRPr lang="fr-FR" sz="1200" dirty="0"/>
          </a:p>
          <a:p>
            <a:r>
              <a:rPr lang="fr-FR" b="1" dirty="0"/>
              <a:t>Conditions importantes</a:t>
            </a:r>
          </a:p>
          <a:p>
            <a:r>
              <a:rPr lang="fr-FR" dirty="0"/>
              <a:t>Commande au minimum 14 jours avant. Conservation au frais entre 0 et 4 °C.</a:t>
            </a:r>
          </a:p>
          <a:p>
            <a:r>
              <a:rPr lang="fr-FR" b="1" dirty="0"/>
              <a:t>Plats</a:t>
            </a:r>
          </a:p>
          <a:p>
            <a:endParaRPr lang="fr-FR" dirty="0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F30FE6F4-D2B3-2977-B0F7-607477E9D3A0}"/>
              </a:ext>
            </a:extLst>
          </p:cNvPr>
          <p:cNvSpPr/>
          <p:nvPr/>
        </p:nvSpPr>
        <p:spPr>
          <a:xfrm>
            <a:off x="5510462" y="7454760"/>
            <a:ext cx="10948737" cy="959443"/>
          </a:xfrm>
          <a:prstGeom prst="roundRect">
            <a:avLst/>
          </a:prstGeom>
          <a:solidFill>
            <a:srgbClr val="FFF1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Plat : Suprême de volaille sauce morilles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Plat traiteur classique</a:t>
            </a:r>
          </a:p>
          <a:p>
            <a:r>
              <a:rPr lang="fr-FR" b="1" dirty="0">
                <a:solidFill>
                  <a:schemeClr val="tx1"/>
                </a:solidFill>
              </a:rPr>
              <a:t>Allergènes :</a:t>
            </a:r>
            <a:r>
              <a:rPr lang="fr-FR" dirty="0">
                <a:solidFill>
                  <a:schemeClr val="tx1"/>
                </a:solidFill>
              </a:rPr>
              <a:t> lait, sulfites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0475B5DD-FDD7-0EB1-0D52-B738F29FE93E}"/>
              </a:ext>
            </a:extLst>
          </p:cNvPr>
          <p:cNvSpPr/>
          <p:nvPr/>
        </p:nvSpPr>
        <p:spPr>
          <a:xfrm>
            <a:off x="5510462" y="8567329"/>
            <a:ext cx="10948736" cy="909408"/>
          </a:xfrm>
          <a:prstGeom prst="roundRect">
            <a:avLst/>
          </a:prstGeom>
          <a:solidFill>
            <a:srgbClr val="FFF1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Dessert : Bûche chocolat noisette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Dessert de fête</a:t>
            </a:r>
          </a:p>
          <a:p>
            <a:r>
              <a:rPr lang="fr-FR" b="1" dirty="0">
                <a:solidFill>
                  <a:schemeClr val="tx1"/>
                </a:solidFill>
              </a:rPr>
              <a:t>Allergènes :</a:t>
            </a:r>
            <a:r>
              <a:rPr lang="fr-FR" dirty="0">
                <a:solidFill>
                  <a:schemeClr val="tx1"/>
                </a:solidFill>
              </a:rPr>
              <a:t> fruits à coque, gluten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234517E4-4AE1-6978-1D07-599163BAF618}"/>
              </a:ext>
            </a:extLst>
          </p:cNvPr>
          <p:cNvSpPr/>
          <p:nvPr/>
        </p:nvSpPr>
        <p:spPr>
          <a:xfrm>
            <a:off x="5510462" y="9641456"/>
            <a:ext cx="2447288" cy="480137"/>
          </a:xfrm>
          <a:prstGeom prst="roundRect">
            <a:avLst/>
          </a:prstGeom>
          <a:solidFill>
            <a:srgbClr val="E58A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/>
              <a:t>Commander ce menu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696C6634-C179-A3C0-34DE-D22D12DE3B68}"/>
              </a:ext>
            </a:extLst>
          </p:cNvPr>
          <p:cNvSpPr/>
          <p:nvPr/>
        </p:nvSpPr>
        <p:spPr>
          <a:xfrm>
            <a:off x="5510462" y="6607492"/>
            <a:ext cx="10948736" cy="691485"/>
          </a:xfrm>
          <a:prstGeom prst="roundRect">
            <a:avLst/>
          </a:prstGeom>
          <a:solidFill>
            <a:srgbClr val="FFF1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Entrée : Velouté de potimarron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Entrée chaude de saison</a:t>
            </a:r>
          </a:p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8579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5B22B1A5-F3BB-ED12-3649-9095A2730EEF}"/>
              </a:ext>
            </a:extLst>
          </p:cNvPr>
          <p:cNvSpPr/>
          <p:nvPr/>
        </p:nvSpPr>
        <p:spPr>
          <a:xfrm>
            <a:off x="6021239" y="2708694"/>
            <a:ext cx="1500996" cy="293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ED1735B-F4B2-A460-1649-A956388B461C}"/>
              </a:ext>
            </a:extLst>
          </p:cNvPr>
          <p:cNvSpPr txBox="1">
            <a:spLocks/>
          </p:cNvSpPr>
          <p:nvPr/>
        </p:nvSpPr>
        <p:spPr>
          <a:xfrm>
            <a:off x="0" y="191739"/>
            <a:ext cx="21599525" cy="792655"/>
          </a:xfrm>
          <a:prstGeom prst="rect">
            <a:avLst/>
          </a:prstGeom>
          <a:solidFill>
            <a:srgbClr val="8B2E16"/>
          </a:solidFill>
        </p:spPr>
        <p:txBody>
          <a:bodyPr>
            <a:normAutofit/>
          </a:bodyPr>
          <a:lstStyle>
            <a:lvl1pPr algn="l" defTabSz="16199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7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915" b="1">
                <a:solidFill>
                  <a:schemeClr val="bg1"/>
                </a:solidFill>
              </a:rPr>
              <a:t> </a:t>
            </a:r>
            <a:endParaRPr lang="fr-FR" sz="1915" b="1" dirty="0">
              <a:solidFill>
                <a:schemeClr val="bg1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63D2006-53A7-040A-68ED-F0E069E1B74F}"/>
              </a:ext>
            </a:extLst>
          </p:cNvPr>
          <p:cNvSpPr txBox="1"/>
          <p:nvPr/>
        </p:nvSpPr>
        <p:spPr>
          <a:xfrm>
            <a:off x="792952" y="341591"/>
            <a:ext cx="3051420" cy="475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89" dirty="0">
                <a:solidFill>
                  <a:schemeClr val="bg1"/>
                </a:solidFill>
              </a:rPr>
              <a:t>Vite et Gourmand</a:t>
            </a:r>
          </a:p>
        </p:txBody>
      </p:sp>
      <p:pic>
        <p:nvPicPr>
          <p:cNvPr id="4" name="Image 3" descr="Logo Vite &amp; Gourmand">
            <a:extLst>
              <a:ext uri="{FF2B5EF4-FFF2-40B4-BE49-F238E27FC236}">
                <a16:creationId xmlns:a16="http://schemas.microsoft.com/office/drawing/2014/main" id="{996E1F82-1E99-CC23-C403-3FD4B27C1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40" y="302874"/>
            <a:ext cx="551412" cy="55141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AC020AE-7663-CDEC-BE8C-E8C270F025F2}"/>
              </a:ext>
            </a:extLst>
          </p:cNvPr>
          <p:cNvSpPr/>
          <p:nvPr/>
        </p:nvSpPr>
        <p:spPr>
          <a:xfrm>
            <a:off x="14965850" y="388522"/>
            <a:ext cx="6186119" cy="428456"/>
          </a:xfrm>
          <a:prstGeom prst="rect">
            <a:avLst/>
          </a:prstGeom>
          <a:solidFill>
            <a:srgbClr val="8B2E1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723" dirty="0">
                <a:solidFill>
                  <a:schemeClr val="bg1"/>
                </a:solidFill>
              </a:rPr>
              <a:t>Accueil               Menus           Contact             Connexion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35D89E-70D1-49BD-B1B6-FA1A9835309E}"/>
              </a:ext>
            </a:extLst>
          </p:cNvPr>
          <p:cNvSpPr/>
          <p:nvPr/>
        </p:nvSpPr>
        <p:spPr>
          <a:xfrm>
            <a:off x="-1" y="10165240"/>
            <a:ext cx="21599525" cy="1044632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Horaires</a:t>
            </a:r>
          </a:p>
          <a:p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Lundi à dimanche : 8h00 - 20h00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D74160B-11BD-2DA3-ED1D-EE98E1C6B169}"/>
              </a:ext>
            </a:extLst>
          </p:cNvPr>
          <p:cNvSpPr txBox="1"/>
          <p:nvPr/>
        </p:nvSpPr>
        <p:spPr>
          <a:xfrm>
            <a:off x="241540" y="11714672"/>
            <a:ext cx="4960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>
                <a:solidFill>
                  <a:srgbClr val="5518AB"/>
                </a:solidFill>
              </a:rPr>
              <a:t>Mentions légales</a:t>
            </a:r>
            <a:r>
              <a:rPr lang="fr-FR" dirty="0">
                <a:solidFill>
                  <a:srgbClr val="5518AB"/>
                </a:solidFill>
              </a:rPr>
              <a:t> </a:t>
            </a:r>
            <a:r>
              <a:rPr lang="fr-FR" u="sng" dirty="0">
                <a:solidFill>
                  <a:srgbClr val="5518AB"/>
                </a:solidFill>
              </a:rPr>
              <a:t>Conditions générales de vente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21DA994-FFF9-D4C4-B75D-CF4BC1536215}"/>
              </a:ext>
            </a:extLst>
          </p:cNvPr>
          <p:cNvSpPr txBox="1"/>
          <p:nvPr/>
        </p:nvSpPr>
        <p:spPr>
          <a:xfrm>
            <a:off x="6021238" y="1846053"/>
            <a:ext cx="7487728" cy="1200329"/>
          </a:xfrm>
          <a:prstGeom prst="rect">
            <a:avLst/>
          </a:prstGeom>
          <a:solidFill>
            <a:srgbClr val="FFF7ED"/>
          </a:solidFill>
        </p:spPr>
        <p:txBody>
          <a:bodyPr wrap="square" rtlCol="0">
            <a:spAutoFit/>
          </a:bodyPr>
          <a:lstStyle/>
          <a:p>
            <a:r>
              <a:rPr lang="fr-FR" b="1" dirty="0"/>
              <a:t>Connexion</a:t>
            </a:r>
          </a:p>
          <a:p>
            <a:r>
              <a:rPr lang="fr-FR" dirty="0"/>
              <a:t>Email :</a:t>
            </a:r>
          </a:p>
          <a:p>
            <a:r>
              <a:rPr lang="fr-FR" dirty="0"/>
              <a:t> Mot de passe :</a:t>
            </a:r>
          </a:p>
          <a:p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8BA7333-1174-029F-E38E-8D6E66605E35}"/>
              </a:ext>
            </a:extLst>
          </p:cNvPr>
          <p:cNvSpPr txBox="1"/>
          <p:nvPr/>
        </p:nvSpPr>
        <p:spPr>
          <a:xfrm>
            <a:off x="6021238" y="3881887"/>
            <a:ext cx="4778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hlinkClick r:id="rId4"/>
              </a:rPr>
              <a:t>Créer un compte</a:t>
            </a:r>
            <a:r>
              <a:rPr lang="fr-FR"/>
              <a:t> · </a:t>
            </a:r>
            <a:r>
              <a:rPr lang="fr-FR">
                <a:hlinkClick r:id="rId5"/>
              </a:rPr>
              <a:t>Mot de passe oublié</a:t>
            </a:r>
            <a:endParaRPr lang="fr-FR" dirty="0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BDFA1F83-F5EE-C7CE-C353-723DC839EC6E}"/>
              </a:ext>
            </a:extLst>
          </p:cNvPr>
          <p:cNvSpPr/>
          <p:nvPr/>
        </p:nvSpPr>
        <p:spPr>
          <a:xfrm>
            <a:off x="6021238" y="3046382"/>
            <a:ext cx="1708030" cy="524954"/>
          </a:xfrm>
          <a:prstGeom prst="roundRect">
            <a:avLst/>
          </a:prstGeom>
          <a:solidFill>
            <a:srgbClr val="E58A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 Se connecter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63658B-3469-E64B-0E10-A0EDA7572D2D}"/>
              </a:ext>
            </a:extLst>
          </p:cNvPr>
          <p:cNvSpPr/>
          <p:nvPr/>
        </p:nvSpPr>
        <p:spPr>
          <a:xfrm>
            <a:off x="7659746" y="2213970"/>
            <a:ext cx="3140015" cy="194249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1647B-52DE-AC61-3775-A6CD1DB4777B}"/>
              </a:ext>
            </a:extLst>
          </p:cNvPr>
          <p:cNvSpPr/>
          <p:nvPr/>
        </p:nvSpPr>
        <p:spPr>
          <a:xfrm>
            <a:off x="7659746" y="2466370"/>
            <a:ext cx="3140015" cy="194249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1347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55A1D6-BCF9-056F-E30B-977D1543D79B}"/>
              </a:ext>
            </a:extLst>
          </p:cNvPr>
          <p:cNvSpPr txBox="1">
            <a:spLocks/>
          </p:cNvSpPr>
          <p:nvPr/>
        </p:nvSpPr>
        <p:spPr>
          <a:xfrm>
            <a:off x="0" y="191739"/>
            <a:ext cx="21599525" cy="792655"/>
          </a:xfrm>
          <a:prstGeom prst="rect">
            <a:avLst/>
          </a:prstGeom>
          <a:solidFill>
            <a:srgbClr val="8B2E16"/>
          </a:solidFill>
        </p:spPr>
        <p:txBody>
          <a:bodyPr>
            <a:normAutofit/>
          </a:bodyPr>
          <a:lstStyle>
            <a:lvl1pPr algn="l" defTabSz="16199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7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915" b="1">
                <a:solidFill>
                  <a:schemeClr val="bg1"/>
                </a:solidFill>
              </a:rPr>
              <a:t> </a:t>
            </a:r>
            <a:endParaRPr lang="fr-FR" sz="1915" b="1" dirty="0">
              <a:solidFill>
                <a:schemeClr val="bg1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A1DF7C7-3F23-E76E-5FF7-DD5DEF210094}"/>
              </a:ext>
            </a:extLst>
          </p:cNvPr>
          <p:cNvSpPr txBox="1"/>
          <p:nvPr/>
        </p:nvSpPr>
        <p:spPr>
          <a:xfrm>
            <a:off x="792952" y="341591"/>
            <a:ext cx="3051420" cy="475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89" dirty="0">
                <a:solidFill>
                  <a:schemeClr val="bg1"/>
                </a:solidFill>
              </a:rPr>
              <a:t>Vite et Gourmand</a:t>
            </a:r>
          </a:p>
        </p:txBody>
      </p:sp>
      <p:pic>
        <p:nvPicPr>
          <p:cNvPr id="4" name="Image 3" descr="Logo Vite &amp; Gourmand">
            <a:extLst>
              <a:ext uri="{FF2B5EF4-FFF2-40B4-BE49-F238E27FC236}">
                <a16:creationId xmlns:a16="http://schemas.microsoft.com/office/drawing/2014/main" id="{8C631D4A-B368-B9C4-62BE-8C088E132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40" y="302874"/>
            <a:ext cx="551412" cy="55141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1343F86-0D96-53B7-B6F7-61356361C15E}"/>
              </a:ext>
            </a:extLst>
          </p:cNvPr>
          <p:cNvSpPr/>
          <p:nvPr/>
        </p:nvSpPr>
        <p:spPr>
          <a:xfrm>
            <a:off x="12826499" y="388522"/>
            <a:ext cx="8359976" cy="428456"/>
          </a:xfrm>
          <a:prstGeom prst="rect">
            <a:avLst/>
          </a:prstGeom>
          <a:solidFill>
            <a:srgbClr val="8B2E1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723" dirty="0">
                <a:solidFill>
                  <a:schemeClr val="bg1"/>
                </a:solidFill>
              </a:rPr>
              <a:t>Accueil          Menus         Contact        Mon espace        Employé       Admin        Déconnexion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B64FDA-2BB5-DC05-B4EF-4EE705F47B19}"/>
              </a:ext>
            </a:extLst>
          </p:cNvPr>
          <p:cNvSpPr/>
          <p:nvPr/>
        </p:nvSpPr>
        <p:spPr>
          <a:xfrm>
            <a:off x="-1" y="10165240"/>
            <a:ext cx="21599525" cy="1044632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Horaires</a:t>
            </a:r>
          </a:p>
          <a:p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Lundi à dimanche : 8h00 - 20h00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401089E-8C01-DD12-A227-FDC20DCDBEE7}"/>
              </a:ext>
            </a:extLst>
          </p:cNvPr>
          <p:cNvSpPr txBox="1"/>
          <p:nvPr/>
        </p:nvSpPr>
        <p:spPr>
          <a:xfrm>
            <a:off x="241540" y="11714672"/>
            <a:ext cx="4960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>
                <a:solidFill>
                  <a:srgbClr val="5518AB"/>
                </a:solidFill>
              </a:rPr>
              <a:t>Mentions légales</a:t>
            </a:r>
            <a:r>
              <a:rPr lang="fr-FR" dirty="0">
                <a:solidFill>
                  <a:srgbClr val="5518AB"/>
                </a:solidFill>
              </a:rPr>
              <a:t> </a:t>
            </a:r>
            <a:r>
              <a:rPr lang="fr-FR" u="sng" dirty="0">
                <a:solidFill>
                  <a:srgbClr val="5518AB"/>
                </a:solidFill>
              </a:rPr>
              <a:t>Conditions générales de vente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97B4EA4-726F-BBED-4576-9F48CE785205}"/>
              </a:ext>
            </a:extLst>
          </p:cNvPr>
          <p:cNvSpPr/>
          <p:nvPr/>
        </p:nvSpPr>
        <p:spPr>
          <a:xfrm>
            <a:off x="7142672" y="2733890"/>
            <a:ext cx="6590071" cy="1140206"/>
          </a:xfrm>
          <a:prstGeom prst="roundRect">
            <a:avLst/>
          </a:prstGeom>
          <a:solidFill>
            <a:srgbClr val="FFF1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VG-20260610-A22828 - Menu Classique Bordeaux</a:t>
            </a:r>
          </a:p>
          <a:p>
            <a:r>
              <a:rPr lang="fr-FR" dirty="0">
                <a:solidFill>
                  <a:schemeClr val="tx1"/>
                </a:solidFill>
              </a:rPr>
              <a:t>Statut : </a:t>
            </a:r>
            <a:r>
              <a:rPr lang="fr-FR" dirty="0" err="1">
                <a:solidFill>
                  <a:schemeClr val="tx1"/>
                </a:solidFill>
              </a:rPr>
              <a:t>recue</a:t>
            </a:r>
            <a:r>
              <a:rPr lang="fr-FR" dirty="0">
                <a:solidFill>
                  <a:schemeClr val="tx1"/>
                </a:solidFill>
              </a:rPr>
              <a:t> · Total : 180,00 €</a:t>
            </a:r>
          </a:p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7DD9B597-8259-0298-7C5F-845F6CDC9C77}"/>
              </a:ext>
            </a:extLst>
          </p:cNvPr>
          <p:cNvSpPr/>
          <p:nvPr/>
        </p:nvSpPr>
        <p:spPr>
          <a:xfrm>
            <a:off x="7142672" y="4168001"/>
            <a:ext cx="6607834" cy="1140206"/>
          </a:xfrm>
          <a:prstGeom prst="roundRect">
            <a:avLst/>
          </a:prstGeom>
          <a:solidFill>
            <a:srgbClr val="FFF1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VG-20260607-21E132 - Menu Noël Gourmand</a:t>
            </a:r>
          </a:p>
          <a:p>
            <a:r>
              <a:rPr lang="fr-FR" dirty="0">
                <a:solidFill>
                  <a:schemeClr val="tx1"/>
                </a:solidFill>
              </a:rPr>
              <a:t>Statut : </a:t>
            </a:r>
            <a:r>
              <a:rPr lang="fr-FR" dirty="0" err="1">
                <a:solidFill>
                  <a:schemeClr val="tx1"/>
                </a:solidFill>
              </a:rPr>
              <a:t>terminee</a:t>
            </a:r>
            <a:r>
              <a:rPr lang="fr-FR" dirty="0">
                <a:solidFill>
                  <a:schemeClr val="tx1"/>
                </a:solidFill>
              </a:rPr>
              <a:t> · Total : 350,00 €</a:t>
            </a:r>
          </a:p>
          <a:p>
            <a:r>
              <a:rPr lang="fr-FR" dirty="0">
                <a:solidFill>
                  <a:schemeClr val="tx1"/>
                </a:solidFill>
              </a:rPr>
              <a:t>Note                   Avis  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67CC52A-E368-85D8-DEB3-D6DDED40536F}"/>
              </a:ext>
            </a:extLst>
          </p:cNvPr>
          <p:cNvSpPr txBox="1"/>
          <p:nvPr/>
        </p:nvSpPr>
        <p:spPr>
          <a:xfrm>
            <a:off x="7263442" y="1855315"/>
            <a:ext cx="282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/>
              <a:t>Mes commandes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DDDF4D-8E89-D55D-0FAE-3E1107A818B8}"/>
              </a:ext>
            </a:extLst>
          </p:cNvPr>
          <p:cNvSpPr/>
          <p:nvPr/>
        </p:nvSpPr>
        <p:spPr>
          <a:xfrm>
            <a:off x="7828472" y="4933125"/>
            <a:ext cx="672861" cy="2242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81ED2C-2E8A-E3B6-E594-B8D2B7811F91}"/>
              </a:ext>
            </a:extLst>
          </p:cNvPr>
          <p:cNvSpPr/>
          <p:nvPr/>
        </p:nvSpPr>
        <p:spPr>
          <a:xfrm>
            <a:off x="9187132" y="4838235"/>
            <a:ext cx="1811547" cy="4140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96AC3C-7462-E1CD-F11E-8FB9CC15A8C8}"/>
              </a:ext>
            </a:extLst>
          </p:cNvPr>
          <p:cNvSpPr/>
          <p:nvPr/>
        </p:nvSpPr>
        <p:spPr>
          <a:xfrm>
            <a:off x="11468819" y="4880246"/>
            <a:ext cx="1811547" cy="356517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Envoyer mon avis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84549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EBDC18-1877-EF9E-91D2-D6BF87F977F1}"/>
              </a:ext>
            </a:extLst>
          </p:cNvPr>
          <p:cNvSpPr txBox="1">
            <a:spLocks/>
          </p:cNvSpPr>
          <p:nvPr/>
        </p:nvSpPr>
        <p:spPr>
          <a:xfrm>
            <a:off x="0" y="191739"/>
            <a:ext cx="21599525" cy="792655"/>
          </a:xfrm>
          <a:prstGeom prst="rect">
            <a:avLst/>
          </a:prstGeom>
          <a:solidFill>
            <a:srgbClr val="8B2E16"/>
          </a:solidFill>
        </p:spPr>
        <p:txBody>
          <a:bodyPr>
            <a:normAutofit/>
          </a:bodyPr>
          <a:lstStyle>
            <a:lvl1pPr algn="l" defTabSz="16199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7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915" b="1">
                <a:solidFill>
                  <a:schemeClr val="bg1"/>
                </a:solidFill>
              </a:rPr>
              <a:t> </a:t>
            </a:r>
            <a:endParaRPr lang="fr-FR" sz="1915" b="1" dirty="0">
              <a:solidFill>
                <a:schemeClr val="bg1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7F139A-A5D3-1992-EEE7-070D54BCDDD1}"/>
              </a:ext>
            </a:extLst>
          </p:cNvPr>
          <p:cNvSpPr txBox="1"/>
          <p:nvPr/>
        </p:nvSpPr>
        <p:spPr>
          <a:xfrm>
            <a:off x="792952" y="341591"/>
            <a:ext cx="3051420" cy="475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89" dirty="0">
                <a:solidFill>
                  <a:schemeClr val="bg1"/>
                </a:solidFill>
              </a:rPr>
              <a:t>Vite et Gourmand</a:t>
            </a:r>
          </a:p>
        </p:txBody>
      </p:sp>
      <p:pic>
        <p:nvPicPr>
          <p:cNvPr id="4" name="Image 3" descr="Logo Vite &amp; Gourmand">
            <a:extLst>
              <a:ext uri="{FF2B5EF4-FFF2-40B4-BE49-F238E27FC236}">
                <a16:creationId xmlns:a16="http://schemas.microsoft.com/office/drawing/2014/main" id="{3353582B-5271-610E-C1C6-7F35AA280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40" y="302874"/>
            <a:ext cx="551412" cy="5514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6608D65-04D0-A507-D755-BF1661BF8FBF}"/>
              </a:ext>
            </a:extLst>
          </p:cNvPr>
          <p:cNvSpPr/>
          <p:nvPr/>
        </p:nvSpPr>
        <p:spPr>
          <a:xfrm>
            <a:off x="-1" y="10165240"/>
            <a:ext cx="21599525" cy="1044632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Horaires</a:t>
            </a:r>
          </a:p>
          <a:p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Lundi à dimanche : 8h00 - 20h00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791CF69-2136-C899-7937-A217E5E0E114}"/>
              </a:ext>
            </a:extLst>
          </p:cNvPr>
          <p:cNvSpPr txBox="1"/>
          <p:nvPr/>
        </p:nvSpPr>
        <p:spPr>
          <a:xfrm>
            <a:off x="241540" y="11714672"/>
            <a:ext cx="4960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>
                <a:solidFill>
                  <a:srgbClr val="5518AB"/>
                </a:solidFill>
              </a:rPr>
              <a:t>Mentions légales</a:t>
            </a:r>
            <a:r>
              <a:rPr lang="fr-FR" dirty="0">
                <a:solidFill>
                  <a:srgbClr val="5518AB"/>
                </a:solidFill>
              </a:rPr>
              <a:t> </a:t>
            </a:r>
            <a:r>
              <a:rPr lang="fr-FR" u="sng" dirty="0">
                <a:solidFill>
                  <a:srgbClr val="5518AB"/>
                </a:solidFill>
              </a:rPr>
              <a:t>Conditions générales de vente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50B8E53D-9128-DBC3-1288-B26B1D107856}"/>
              </a:ext>
            </a:extLst>
          </p:cNvPr>
          <p:cNvSpPr/>
          <p:nvPr/>
        </p:nvSpPr>
        <p:spPr>
          <a:xfrm>
            <a:off x="6587705" y="2410084"/>
            <a:ext cx="7108166" cy="1957319"/>
          </a:xfrm>
          <a:prstGeom prst="roundRect">
            <a:avLst/>
          </a:prstGeom>
          <a:solidFill>
            <a:srgbClr val="FFF1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9FE3AC82-509D-B108-FFFF-F3E8BC0B6E3C}"/>
              </a:ext>
            </a:extLst>
          </p:cNvPr>
          <p:cNvSpPr/>
          <p:nvPr/>
        </p:nvSpPr>
        <p:spPr>
          <a:xfrm>
            <a:off x="6587705" y="5017281"/>
            <a:ext cx="7108166" cy="1957318"/>
          </a:xfrm>
          <a:prstGeom prst="roundRect">
            <a:avLst/>
          </a:prstGeom>
          <a:solidFill>
            <a:srgbClr val="FFF1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7FDB0B06-706B-0601-3278-B33CC3437D40}"/>
              </a:ext>
            </a:extLst>
          </p:cNvPr>
          <p:cNvSpPr/>
          <p:nvPr/>
        </p:nvSpPr>
        <p:spPr>
          <a:xfrm>
            <a:off x="6587705" y="7576130"/>
            <a:ext cx="7108166" cy="1957318"/>
          </a:xfrm>
          <a:prstGeom prst="roundRect">
            <a:avLst/>
          </a:prstGeom>
          <a:solidFill>
            <a:srgbClr val="FFF1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98E23D-A64F-3997-7357-8C7C3CEE6156}"/>
              </a:ext>
            </a:extLst>
          </p:cNvPr>
          <p:cNvSpPr/>
          <p:nvPr/>
        </p:nvSpPr>
        <p:spPr>
          <a:xfrm>
            <a:off x="6847937" y="3334009"/>
            <a:ext cx="2070340" cy="2932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Accepté       </a:t>
            </a:r>
            <a:r>
              <a:rPr lang="fr-FR" b="1" dirty="0">
                <a:solidFill>
                  <a:schemeClr val="tx1"/>
                </a:solidFill>
              </a:rPr>
              <a:t> V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AF7C7D-BD04-4915-A48A-02B93C3B7EBD}"/>
              </a:ext>
            </a:extLst>
          </p:cNvPr>
          <p:cNvSpPr/>
          <p:nvPr/>
        </p:nvSpPr>
        <p:spPr>
          <a:xfrm>
            <a:off x="6847937" y="3888333"/>
            <a:ext cx="1515374" cy="2562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Appel GSM </a:t>
            </a:r>
            <a:r>
              <a:rPr lang="fr-FR" b="1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ADD3C3-8B7F-7DCD-5CDD-860D9C09D7EB}"/>
              </a:ext>
            </a:extLst>
          </p:cNvPr>
          <p:cNvSpPr/>
          <p:nvPr/>
        </p:nvSpPr>
        <p:spPr>
          <a:xfrm>
            <a:off x="9157659" y="3334009"/>
            <a:ext cx="2675627" cy="2932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Note Interne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26184D-0C04-CD4E-B8F6-5B421CF57995}"/>
              </a:ext>
            </a:extLst>
          </p:cNvPr>
          <p:cNvSpPr/>
          <p:nvPr/>
        </p:nvSpPr>
        <p:spPr>
          <a:xfrm>
            <a:off x="8451011" y="3897395"/>
            <a:ext cx="2502589" cy="2932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Motif d’annulation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8CD182-5427-0983-2049-36D94A77C754}"/>
              </a:ext>
            </a:extLst>
          </p:cNvPr>
          <p:cNvSpPr/>
          <p:nvPr/>
        </p:nvSpPr>
        <p:spPr>
          <a:xfrm>
            <a:off x="11041300" y="3888332"/>
            <a:ext cx="2394341" cy="370767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Annuler après contact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15FED7-F209-73C8-C43E-273629E6603E}"/>
              </a:ext>
            </a:extLst>
          </p:cNvPr>
          <p:cNvSpPr/>
          <p:nvPr/>
        </p:nvSpPr>
        <p:spPr>
          <a:xfrm>
            <a:off x="11984968" y="3286802"/>
            <a:ext cx="1450674" cy="340505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Mettre à jour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BA43E1-26C8-BD97-BE55-F7F71DFC4B1B}"/>
              </a:ext>
            </a:extLst>
          </p:cNvPr>
          <p:cNvSpPr/>
          <p:nvPr/>
        </p:nvSpPr>
        <p:spPr>
          <a:xfrm>
            <a:off x="6779283" y="5920316"/>
            <a:ext cx="2070340" cy="2932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Accepté       </a:t>
            </a:r>
            <a:r>
              <a:rPr lang="fr-FR" b="1" dirty="0">
                <a:solidFill>
                  <a:schemeClr val="tx1"/>
                </a:solidFill>
              </a:rPr>
              <a:t> V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6F3997-823D-AC43-9818-BA6E6A42163C}"/>
              </a:ext>
            </a:extLst>
          </p:cNvPr>
          <p:cNvSpPr/>
          <p:nvPr/>
        </p:nvSpPr>
        <p:spPr>
          <a:xfrm>
            <a:off x="6779283" y="6474640"/>
            <a:ext cx="1515374" cy="2422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Appel GSM </a:t>
            </a:r>
            <a:r>
              <a:rPr lang="fr-FR" b="1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9E5193-DC94-625D-1219-F0720F3DB3C1}"/>
              </a:ext>
            </a:extLst>
          </p:cNvPr>
          <p:cNvSpPr/>
          <p:nvPr/>
        </p:nvSpPr>
        <p:spPr>
          <a:xfrm>
            <a:off x="9089005" y="5920316"/>
            <a:ext cx="2675627" cy="2932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chemeClr val="bg1">
                    <a:lumMod val="75000"/>
                  </a:schemeClr>
                </a:solidFill>
              </a:rPr>
              <a:t>Note Interne</a:t>
            </a:r>
            <a:endParaRPr lang="fr-F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546F6F6-2939-D2BE-A02A-76AFBD2DB348}"/>
              </a:ext>
            </a:extLst>
          </p:cNvPr>
          <p:cNvSpPr/>
          <p:nvPr/>
        </p:nvSpPr>
        <p:spPr>
          <a:xfrm>
            <a:off x="8382357" y="6468889"/>
            <a:ext cx="2502589" cy="2932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Motif d’annulation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2EA7A80-7DD9-C75D-775E-650F9FDC45AB}"/>
              </a:ext>
            </a:extLst>
          </p:cNvPr>
          <p:cNvSpPr/>
          <p:nvPr/>
        </p:nvSpPr>
        <p:spPr>
          <a:xfrm>
            <a:off x="6731480" y="8511584"/>
            <a:ext cx="2070340" cy="2932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Accepté       </a:t>
            </a:r>
            <a:r>
              <a:rPr lang="fr-FR" b="1" dirty="0">
                <a:solidFill>
                  <a:schemeClr val="tx1"/>
                </a:solidFill>
              </a:rPr>
              <a:t> V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9724BAD-83BD-62CB-7365-6CCBF6F2DB6D}"/>
              </a:ext>
            </a:extLst>
          </p:cNvPr>
          <p:cNvSpPr/>
          <p:nvPr/>
        </p:nvSpPr>
        <p:spPr>
          <a:xfrm>
            <a:off x="6731480" y="9074970"/>
            <a:ext cx="1603074" cy="2842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Appel GSM V 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34AEECF-1C9F-F0C5-4849-24CFB096B620}"/>
              </a:ext>
            </a:extLst>
          </p:cNvPr>
          <p:cNvSpPr/>
          <p:nvPr/>
        </p:nvSpPr>
        <p:spPr>
          <a:xfrm>
            <a:off x="9041202" y="8511584"/>
            <a:ext cx="2675627" cy="2932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Note Interne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8C41255-5511-BCA3-80B7-3E33A2EB04CD}"/>
              </a:ext>
            </a:extLst>
          </p:cNvPr>
          <p:cNvSpPr/>
          <p:nvPr/>
        </p:nvSpPr>
        <p:spPr>
          <a:xfrm>
            <a:off x="8431556" y="9090864"/>
            <a:ext cx="2502589" cy="2932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Motif d’annulation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689012A-54D1-7949-0B9B-DA51DD0AF9D5}"/>
              </a:ext>
            </a:extLst>
          </p:cNvPr>
          <p:cNvSpPr/>
          <p:nvPr/>
        </p:nvSpPr>
        <p:spPr>
          <a:xfrm>
            <a:off x="7196288" y="1795917"/>
            <a:ext cx="2070340" cy="2932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4D12E69-7FB4-CA93-B56C-A0198FD3A73C}"/>
              </a:ext>
            </a:extLst>
          </p:cNvPr>
          <p:cNvSpPr/>
          <p:nvPr/>
        </p:nvSpPr>
        <p:spPr>
          <a:xfrm>
            <a:off x="10182885" y="1778292"/>
            <a:ext cx="2070340" cy="2932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9E1CDFE-A7F7-7AE6-DAE5-1329CED139C3}"/>
              </a:ext>
            </a:extLst>
          </p:cNvPr>
          <p:cNvSpPr/>
          <p:nvPr/>
        </p:nvSpPr>
        <p:spPr>
          <a:xfrm>
            <a:off x="12501112" y="1795917"/>
            <a:ext cx="1194759" cy="249242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Filtrer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4FF36F9B-F9F4-6DE3-8312-15A238C5F76B}"/>
              </a:ext>
            </a:extLst>
          </p:cNvPr>
          <p:cNvSpPr txBox="1"/>
          <p:nvPr/>
        </p:nvSpPr>
        <p:spPr>
          <a:xfrm>
            <a:off x="6726085" y="1155825"/>
            <a:ext cx="5038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/>
              <a:t>Espace employé - commandes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C732F2FB-FC95-4329-037C-334CD490FB3F}"/>
              </a:ext>
            </a:extLst>
          </p:cNvPr>
          <p:cNvSpPr txBox="1"/>
          <p:nvPr/>
        </p:nvSpPr>
        <p:spPr>
          <a:xfrm>
            <a:off x="6426680" y="1787617"/>
            <a:ext cx="842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Statut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03D25D42-6A12-5368-CB7A-0400CBE397DC}"/>
              </a:ext>
            </a:extLst>
          </p:cNvPr>
          <p:cNvSpPr txBox="1"/>
          <p:nvPr/>
        </p:nvSpPr>
        <p:spPr>
          <a:xfrm>
            <a:off x="9420045" y="1771396"/>
            <a:ext cx="758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Client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7EEE0B0C-722B-9B41-1FC8-C0485D7EC137}"/>
              </a:ext>
            </a:extLst>
          </p:cNvPr>
          <p:cNvSpPr txBox="1"/>
          <p:nvPr/>
        </p:nvSpPr>
        <p:spPr>
          <a:xfrm>
            <a:off x="6935637" y="2553419"/>
            <a:ext cx="6587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/>
              <a:t>VG-20260607-21E132 - Menu Noël Gourmand</a:t>
            </a:r>
          </a:p>
          <a:p>
            <a:r>
              <a:rPr lang="fr-FR"/>
              <a:t>sophos45@hotmail.fr · 2026-06-09 · terminee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A6C7982-F137-5AAC-C87B-8EF07B5F18E5}"/>
              </a:ext>
            </a:extLst>
          </p:cNvPr>
          <p:cNvSpPr txBox="1"/>
          <p:nvPr/>
        </p:nvSpPr>
        <p:spPr>
          <a:xfrm>
            <a:off x="6847936" y="5020196"/>
            <a:ext cx="63662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VG-20260610-A22828 - Menu Classique Bordeaux</a:t>
            </a:r>
          </a:p>
          <a:p>
            <a:r>
              <a:rPr lang="fr-FR" dirty="0"/>
              <a:t>sophos45@hotmail.fr · 2026-06-11 · reçue</a:t>
            </a:r>
          </a:p>
          <a:p>
            <a:endParaRPr lang="fr-FR" dirty="0"/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9E17EBAE-CD5D-3E0A-29CB-AB0E38FCE909}"/>
              </a:ext>
            </a:extLst>
          </p:cNvPr>
          <p:cNvSpPr txBox="1"/>
          <p:nvPr/>
        </p:nvSpPr>
        <p:spPr>
          <a:xfrm>
            <a:off x="6935637" y="7576130"/>
            <a:ext cx="6159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/>
              <a:t>VG-DEMO-001 - Menu Noël Gourmand</a:t>
            </a:r>
          </a:p>
          <a:p>
            <a:r>
              <a:rPr lang="fr-FR"/>
              <a:t>client@example.com · 2026-12-20 · accepte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4A71A8B-84C9-D4FD-3688-CE38FDEB211D}"/>
              </a:ext>
            </a:extLst>
          </p:cNvPr>
          <p:cNvSpPr/>
          <p:nvPr/>
        </p:nvSpPr>
        <p:spPr>
          <a:xfrm>
            <a:off x="12002577" y="5923722"/>
            <a:ext cx="1450674" cy="340505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Mettre à jour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4EF9744-439A-4C07-D2F8-C20391CAE257}"/>
              </a:ext>
            </a:extLst>
          </p:cNvPr>
          <p:cNvSpPr/>
          <p:nvPr/>
        </p:nvSpPr>
        <p:spPr>
          <a:xfrm>
            <a:off x="12072668" y="8514990"/>
            <a:ext cx="1450674" cy="340505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Mettre à jour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7343CDD-BEBE-F8F9-B37C-7429A7AE3CCB}"/>
              </a:ext>
            </a:extLst>
          </p:cNvPr>
          <p:cNvSpPr/>
          <p:nvPr/>
        </p:nvSpPr>
        <p:spPr>
          <a:xfrm>
            <a:off x="11015061" y="6504717"/>
            <a:ext cx="2394341" cy="370767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Annuler après contact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778997C-A4BE-F191-6C5C-9FD5F7761FBE}"/>
              </a:ext>
            </a:extLst>
          </p:cNvPr>
          <p:cNvSpPr/>
          <p:nvPr/>
        </p:nvSpPr>
        <p:spPr>
          <a:xfrm>
            <a:off x="11098807" y="9084101"/>
            <a:ext cx="2394341" cy="370767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Annuler après contact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1877C80-3E12-3BD1-7614-249242A730DA}"/>
              </a:ext>
            </a:extLst>
          </p:cNvPr>
          <p:cNvSpPr/>
          <p:nvPr/>
        </p:nvSpPr>
        <p:spPr>
          <a:xfrm>
            <a:off x="12826499" y="388522"/>
            <a:ext cx="8359976" cy="428456"/>
          </a:xfrm>
          <a:prstGeom prst="rect">
            <a:avLst/>
          </a:prstGeom>
          <a:solidFill>
            <a:srgbClr val="8B2E1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723" dirty="0">
                <a:solidFill>
                  <a:schemeClr val="bg1"/>
                </a:solidFill>
              </a:rPr>
              <a:t>Accueil          Menus         Contact        Mon espace        Employé       Admin        Déconnexion</a:t>
            </a:r>
          </a:p>
        </p:txBody>
      </p:sp>
    </p:spTree>
    <p:extLst>
      <p:ext uri="{BB962C8B-B14F-4D97-AF65-F5344CB8AC3E}">
        <p14:creationId xmlns:p14="http://schemas.microsoft.com/office/powerpoint/2010/main" val="1058244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092B073-3350-5808-C409-043259DF5AFF}"/>
              </a:ext>
            </a:extLst>
          </p:cNvPr>
          <p:cNvSpPr/>
          <p:nvPr/>
        </p:nvSpPr>
        <p:spPr>
          <a:xfrm>
            <a:off x="11222966" y="2346385"/>
            <a:ext cx="1810567" cy="246005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A9152BC2-96DF-86EE-984D-0BE42290F5FC}"/>
              </a:ext>
            </a:extLst>
          </p:cNvPr>
          <p:cNvSpPr txBox="1">
            <a:spLocks/>
          </p:cNvSpPr>
          <p:nvPr/>
        </p:nvSpPr>
        <p:spPr>
          <a:xfrm>
            <a:off x="0" y="191739"/>
            <a:ext cx="21599525" cy="792655"/>
          </a:xfrm>
          <a:prstGeom prst="rect">
            <a:avLst/>
          </a:prstGeom>
          <a:solidFill>
            <a:srgbClr val="8B2E16"/>
          </a:solidFill>
        </p:spPr>
        <p:txBody>
          <a:bodyPr>
            <a:normAutofit/>
          </a:bodyPr>
          <a:lstStyle>
            <a:lvl1pPr algn="l" defTabSz="16199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7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915" b="1">
                <a:solidFill>
                  <a:schemeClr val="bg1"/>
                </a:solidFill>
              </a:rPr>
              <a:t> </a:t>
            </a:r>
            <a:endParaRPr lang="fr-FR" sz="1915" b="1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1B3C35-6DFC-266F-C159-D41F6AF9E31A}"/>
              </a:ext>
            </a:extLst>
          </p:cNvPr>
          <p:cNvSpPr/>
          <p:nvPr/>
        </p:nvSpPr>
        <p:spPr>
          <a:xfrm>
            <a:off x="-1" y="10165240"/>
            <a:ext cx="21599525" cy="1044632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Horaires</a:t>
            </a:r>
          </a:p>
          <a:p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Lundi à dimanche : 8h00 - 20h00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59F2509-BC0E-572F-47B2-726753F6776D}"/>
              </a:ext>
            </a:extLst>
          </p:cNvPr>
          <p:cNvSpPr txBox="1"/>
          <p:nvPr/>
        </p:nvSpPr>
        <p:spPr>
          <a:xfrm>
            <a:off x="241540" y="11714672"/>
            <a:ext cx="4960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>
                <a:solidFill>
                  <a:srgbClr val="5518AB"/>
                </a:solidFill>
              </a:rPr>
              <a:t>Mentions légales</a:t>
            </a:r>
            <a:r>
              <a:rPr lang="fr-FR" dirty="0">
                <a:solidFill>
                  <a:srgbClr val="5518AB"/>
                </a:solidFill>
              </a:rPr>
              <a:t> </a:t>
            </a:r>
            <a:r>
              <a:rPr lang="fr-FR" u="sng" dirty="0">
                <a:solidFill>
                  <a:srgbClr val="5518AB"/>
                </a:solidFill>
              </a:rPr>
              <a:t>Conditions générales de vente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49A6140-A777-CF6A-8646-679FC85001E5}"/>
              </a:ext>
            </a:extLst>
          </p:cNvPr>
          <p:cNvSpPr txBox="1"/>
          <p:nvPr/>
        </p:nvSpPr>
        <p:spPr>
          <a:xfrm>
            <a:off x="792952" y="341591"/>
            <a:ext cx="3051420" cy="475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89" dirty="0">
                <a:solidFill>
                  <a:schemeClr val="bg1"/>
                </a:solidFill>
              </a:rPr>
              <a:t>Vite et Gourmand</a:t>
            </a:r>
          </a:p>
        </p:txBody>
      </p:sp>
      <p:pic>
        <p:nvPicPr>
          <p:cNvPr id="13" name="Image 12" descr="Logo Vite &amp; Gourmand">
            <a:extLst>
              <a:ext uri="{FF2B5EF4-FFF2-40B4-BE49-F238E27FC236}">
                <a16:creationId xmlns:a16="http://schemas.microsoft.com/office/drawing/2014/main" id="{EC4A3052-9085-1049-5724-B8C5C9BEE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40" y="302874"/>
            <a:ext cx="551412" cy="551412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D3319ED3-2CA2-E6C1-26EF-F3F6BC262E32}"/>
              </a:ext>
            </a:extLst>
          </p:cNvPr>
          <p:cNvSpPr txBox="1"/>
          <p:nvPr/>
        </p:nvSpPr>
        <p:spPr>
          <a:xfrm>
            <a:off x="6228272" y="1669060"/>
            <a:ext cx="95753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fr-FR" b="1" i="0" dirty="0">
                <a:solidFill>
                  <a:srgbClr val="2B1D14"/>
                </a:solidFill>
                <a:effectLst/>
                <a:latin typeface="Arial" panose="020B0604020202020204" pitchFamily="34" charset="0"/>
              </a:rPr>
              <a:t>Mot de passe oublié</a:t>
            </a:r>
          </a:p>
          <a:p>
            <a:pPr indent="0" algn="l">
              <a:buNone/>
            </a:pPr>
            <a:r>
              <a:rPr lang="fr-FR" b="0" i="0" dirty="0">
                <a:solidFill>
                  <a:srgbClr val="2B1D14"/>
                </a:solidFill>
                <a:effectLst/>
                <a:latin typeface="Arial" panose="020B0604020202020204" pitchFamily="34" charset="0"/>
              </a:rPr>
              <a:t>Entrez votre adresse email. Si un compte existe, un lien de réinitialisation sera généré.</a:t>
            </a:r>
          </a:p>
          <a:p>
            <a:pPr>
              <a:buNone/>
            </a:pPr>
            <a:r>
              <a:rPr lang="fr-FR" dirty="0"/>
              <a:t>Adresse email  </a:t>
            </a:r>
          </a:p>
          <a:p>
            <a:pPr>
              <a:buNone/>
            </a:pPr>
            <a:r>
              <a:rPr lang="fr-FR" b="0" i="0" dirty="0">
                <a:effectLst/>
                <a:latin typeface="Arial" panose="020B0604020202020204" pitchFamily="34" charset="0"/>
                <a:hlinkClick r:id="rId3"/>
              </a:rPr>
              <a:t>Retour à la connexion</a:t>
            </a:r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77907F-746A-92CC-B475-71C616E7B073}"/>
              </a:ext>
            </a:extLst>
          </p:cNvPr>
          <p:cNvSpPr/>
          <p:nvPr/>
        </p:nvSpPr>
        <p:spPr>
          <a:xfrm>
            <a:off x="7634378" y="2346385"/>
            <a:ext cx="3381554" cy="246005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7D08098-E59F-0238-F310-7A9D89429CF1}"/>
              </a:ext>
            </a:extLst>
          </p:cNvPr>
          <p:cNvSpPr txBox="1"/>
          <p:nvPr/>
        </p:nvSpPr>
        <p:spPr>
          <a:xfrm>
            <a:off x="11325504" y="2277850"/>
            <a:ext cx="1708029" cy="383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Envoyer le lien</a:t>
            </a:r>
            <a:endParaRPr lang="fr-FR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75D69A-B3DB-7356-5EFA-F9D44266A908}"/>
              </a:ext>
            </a:extLst>
          </p:cNvPr>
          <p:cNvSpPr/>
          <p:nvPr/>
        </p:nvSpPr>
        <p:spPr>
          <a:xfrm>
            <a:off x="14965850" y="388522"/>
            <a:ext cx="6186119" cy="428456"/>
          </a:xfrm>
          <a:prstGeom prst="rect">
            <a:avLst/>
          </a:prstGeom>
          <a:solidFill>
            <a:srgbClr val="8B2E1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723" dirty="0">
                <a:solidFill>
                  <a:schemeClr val="bg1"/>
                </a:solidFill>
              </a:rPr>
              <a:t>Accueil               Menus            Contact            Connexion</a:t>
            </a:r>
          </a:p>
        </p:txBody>
      </p:sp>
    </p:spTree>
    <p:extLst>
      <p:ext uri="{BB962C8B-B14F-4D97-AF65-F5344CB8AC3E}">
        <p14:creationId xmlns:p14="http://schemas.microsoft.com/office/powerpoint/2010/main" val="3426041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515665F1-33E1-8DEA-C377-8C391E9D5B19}"/>
              </a:ext>
            </a:extLst>
          </p:cNvPr>
          <p:cNvSpPr txBox="1">
            <a:spLocks/>
          </p:cNvSpPr>
          <p:nvPr/>
        </p:nvSpPr>
        <p:spPr>
          <a:xfrm>
            <a:off x="0" y="191739"/>
            <a:ext cx="21599525" cy="792655"/>
          </a:xfrm>
          <a:prstGeom prst="rect">
            <a:avLst/>
          </a:prstGeom>
          <a:solidFill>
            <a:srgbClr val="8B2E16"/>
          </a:solidFill>
        </p:spPr>
        <p:txBody>
          <a:bodyPr>
            <a:normAutofit/>
          </a:bodyPr>
          <a:lstStyle>
            <a:lvl1pPr algn="l" defTabSz="16199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7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915" b="1">
                <a:solidFill>
                  <a:schemeClr val="bg1"/>
                </a:solidFill>
              </a:rPr>
              <a:t> </a:t>
            </a:r>
            <a:endParaRPr lang="fr-FR" sz="1915" b="1" dirty="0">
              <a:solidFill>
                <a:schemeClr val="bg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EFAA706-7F84-CB74-95DE-708151DE8332}"/>
              </a:ext>
            </a:extLst>
          </p:cNvPr>
          <p:cNvSpPr txBox="1"/>
          <p:nvPr/>
        </p:nvSpPr>
        <p:spPr>
          <a:xfrm>
            <a:off x="792952" y="341591"/>
            <a:ext cx="3051420" cy="475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89" dirty="0">
                <a:solidFill>
                  <a:schemeClr val="bg1"/>
                </a:solidFill>
              </a:rPr>
              <a:t>Vite et Gourmand</a:t>
            </a:r>
          </a:p>
        </p:txBody>
      </p:sp>
      <p:pic>
        <p:nvPicPr>
          <p:cNvPr id="7" name="Image 6" descr="Logo Vite &amp; Gourmand">
            <a:extLst>
              <a:ext uri="{FF2B5EF4-FFF2-40B4-BE49-F238E27FC236}">
                <a16:creationId xmlns:a16="http://schemas.microsoft.com/office/drawing/2014/main" id="{EFB33A38-2C63-9D31-7E1F-F5FB165DE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40" y="302874"/>
            <a:ext cx="551412" cy="55141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0A3660C-46AF-FE90-74D1-852C61990679}"/>
              </a:ext>
            </a:extLst>
          </p:cNvPr>
          <p:cNvSpPr/>
          <p:nvPr/>
        </p:nvSpPr>
        <p:spPr>
          <a:xfrm>
            <a:off x="-1" y="10165240"/>
            <a:ext cx="21599525" cy="1044632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Horaires</a:t>
            </a:r>
          </a:p>
          <a:p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Lundi à dimanche : 8h00 - 20h00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9D194F8-F4AC-E446-9ACA-7630EB6E1576}"/>
              </a:ext>
            </a:extLst>
          </p:cNvPr>
          <p:cNvSpPr txBox="1"/>
          <p:nvPr/>
        </p:nvSpPr>
        <p:spPr>
          <a:xfrm>
            <a:off x="241540" y="11714672"/>
            <a:ext cx="4960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>
                <a:solidFill>
                  <a:srgbClr val="5518AB"/>
                </a:solidFill>
              </a:rPr>
              <a:t>Mentions légales</a:t>
            </a:r>
            <a:r>
              <a:rPr lang="fr-FR" dirty="0">
                <a:solidFill>
                  <a:srgbClr val="5518AB"/>
                </a:solidFill>
              </a:rPr>
              <a:t> </a:t>
            </a:r>
            <a:r>
              <a:rPr lang="fr-FR" u="sng" dirty="0">
                <a:solidFill>
                  <a:srgbClr val="5518AB"/>
                </a:solidFill>
              </a:rPr>
              <a:t>Conditions générales de vente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757A1A-29C7-11F5-D741-330A6BA97682}"/>
              </a:ext>
            </a:extLst>
          </p:cNvPr>
          <p:cNvSpPr/>
          <p:nvPr/>
        </p:nvSpPr>
        <p:spPr>
          <a:xfrm>
            <a:off x="12826499" y="388522"/>
            <a:ext cx="8359976" cy="428456"/>
          </a:xfrm>
          <a:prstGeom prst="rect">
            <a:avLst/>
          </a:prstGeom>
          <a:solidFill>
            <a:srgbClr val="8B2E1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723" dirty="0">
                <a:solidFill>
                  <a:schemeClr val="bg1"/>
                </a:solidFill>
              </a:rPr>
              <a:t>Accueil          Menus         Contact        Mon espace        Employé       Admin        Déconnexion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45AB4588-DAAD-0860-9B8B-A07419875238}"/>
              </a:ext>
            </a:extLst>
          </p:cNvPr>
          <p:cNvSpPr/>
          <p:nvPr/>
        </p:nvSpPr>
        <p:spPr>
          <a:xfrm>
            <a:off x="7263442" y="2449902"/>
            <a:ext cx="7090913" cy="3019245"/>
          </a:xfrm>
          <a:prstGeom prst="roundRect">
            <a:avLst>
              <a:gd name="adj" fmla="val 752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15" name="Tableau 14">
            <a:extLst>
              <a:ext uri="{FF2B5EF4-FFF2-40B4-BE49-F238E27FC236}">
                <a16:creationId xmlns:a16="http://schemas.microsoft.com/office/drawing/2014/main" id="{9D222460-9878-2DE0-32D8-600F52CC8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639704"/>
              </p:ext>
            </p:extLst>
          </p:nvPr>
        </p:nvGraphicFramePr>
        <p:xfrm>
          <a:off x="7409111" y="2449902"/>
          <a:ext cx="6945244" cy="2302148"/>
        </p:xfrm>
        <a:graphic>
          <a:graphicData uri="http://schemas.openxmlformats.org/drawingml/2006/table">
            <a:tbl>
              <a:tblPr/>
              <a:tblGrid>
                <a:gridCol w="1736311">
                  <a:extLst>
                    <a:ext uri="{9D8B030D-6E8A-4147-A177-3AD203B41FA5}">
                      <a16:colId xmlns:a16="http://schemas.microsoft.com/office/drawing/2014/main" val="1946904981"/>
                    </a:ext>
                  </a:extLst>
                </a:gridCol>
                <a:gridCol w="1736311">
                  <a:extLst>
                    <a:ext uri="{9D8B030D-6E8A-4147-A177-3AD203B41FA5}">
                      <a16:colId xmlns:a16="http://schemas.microsoft.com/office/drawing/2014/main" val="374023798"/>
                    </a:ext>
                  </a:extLst>
                </a:gridCol>
                <a:gridCol w="1736311">
                  <a:extLst>
                    <a:ext uri="{9D8B030D-6E8A-4147-A177-3AD203B41FA5}">
                      <a16:colId xmlns:a16="http://schemas.microsoft.com/office/drawing/2014/main" val="836114172"/>
                    </a:ext>
                  </a:extLst>
                </a:gridCol>
                <a:gridCol w="1736311">
                  <a:extLst>
                    <a:ext uri="{9D8B030D-6E8A-4147-A177-3AD203B41FA5}">
                      <a16:colId xmlns:a16="http://schemas.microsoft.com/office/drawing/2014/main" val="2606208155"/>
                    </a:ext>
                  </a:extLst>
                </a:gridCol>
              </a:tblGrid>
              <a:tr h="5141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0" i="0">
                          <a:solidFill>
                            <a:srgbClr val="2B1D14"/>
                          </a:solidFill>
                          <a:effectLst/>
                          <a:latin typeface="Arial" panose="020B0604020202020204" pitchFamily="34" charset="0"/>
                        </a:rPr>
                        <a:t>Menu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0" i="0">
                          <a:solidFill>
                            <a:srgbClr val="2B1D14"/>
                          </a:solidFill>
                          <a:effectLst/>
                          <a:latin typeface="Arial" panose="020B0604020202020204" pitchFamily="34" charset="0"/>
                        </a:rPr>
                        <a:t>Nombre de commandes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0" i="0">
                          <a:solidFill>
                            <a:srgbClr val="2B1D14"/>
                          </a:solidFill>
                          <a:effectLst/>
                          <a:latin typeface="Arial" panose="020B0604020202020204" pitchFamily="34" charset="0"/>
                        </a:rPr>
                        <a:t>Chiffre d'affaires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0" i="0">
                          <a:solidFill>
                            <a:srgbClr val="2B1D14"/>
                          </a:solidFill>
                          <a:effectLst/>
                          <a:latin typeface="Arial" panose="020B0604020202020204" pitchFamily="34" charset="0"/>
                        </a:rPr>
                        <a:t>Période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125992"/>
                  </a:ext>
                </a:extLst>
              </a:tr>
              <a:tr h="6369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0" i="0">
                          <a:solidFill>
                            <a:srgbClr val="2B1D14"/>
                          </a:solidFill>
                          <a:effectLst/>
                          <a:latin typeface="Arial" panose="020B0604020202020204" pitchFamily="34" charset="0"/>
                        </a:rPr>
                        <a:t>Menu Classique Bordeaux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0" i="0">
                          <a:solidFill>
                            <a:srgbClr val="2B1D14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0" i="0">
                          <a:solidFill>
                            <a:srgbClr val="2B1D14"/>
                          </a:solidFill>
                          <a:effectLst/>
                          <a:latin typeface="Arial" panose="020B0604020202020204" pitchFamily="34" charset="0"/>
                        </a:rPr>
                        <a:t>6 200,00 €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0" i="0">
                          <a:solidFill>
                            <a:srgbClr val="2B1D14"/>
                          </a:solidFill>
                          <a:effectLst/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875614"/>
                  </a:ext>
                </a:extLst>
              </a:tr>
              <a:tr h="5141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0" i="0" dirty="0">
                          <a:solidFill>
                            <a:srgbClr val="2B1D14"/>
                          </a:solidFill>
                          <a:effectLst/>
                          <a:latin typeface="Arial" panose="020B0604020202020204" pitchFamily="34" charset="0"/>
                        </a:rPr>
                        <a:t>Menu Noël Gourmand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0" i="0">
                          <a:solidFill>
                            <a:srgbClr val="2B1D14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0" i="0">
                          <a:solidFill>
                            <a:srgbClr val="2B1D14"/>
                          </a:solidFill>
                          <a:effectLst/>
                          <a:latin typeface="Arial" panose="020B0604020202020204" pitchFamily="34" charset="0"/>
                        </a:rPr>
                        <a:t>8 500,00 €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0" i="0" dirty="0">
                          <a:solidFill>
                            <a:srgbClr val="2B1D14"/>
                          </a:solidFill>
                          <a:effectLst/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784622"/>
                  </a:ext>
                </a:extLst>
              </a:tr>
              <a:tr h="6369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0" i="0" dirty="0">
                          <a:solidFill>
                            <a:srgbClr val="2B1D14"/>
                          </a:solidFill>
                          <a:effectLst/>
                          <a:latin typeface="Arial" panose="020B0604020202020204" pitchFamily="34" charset="0"/>
                        </a:rPr>
                        <a:t>Menu Printemps Végétarien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0" i="0">
                          <a:solidFill>
                            <a:srgbClr val="2B1D14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0" i="0">
                          <a:solidFill>
                            <a:srgbClr val="2B1D14"/>
                          </a:solidFill>
                          <a:effectLst/>
                          <a:latin typeface="Arial" panose="020B0604020202020204" pitchFamily="34" charset="0"/>
                        </a:rPr>
                        <a:t>2 700,00 €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0" i="0" dirty="0">
                          <a:solidFill>
                            <a:srgbClr val="2B1D14"/>
                          </a:solidFill>
                          <a:effectLst/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129986"/>
                  </a:ext>
                </a:extLst>
              </a:tr>
            </a:tbl>
          </a:graphicData>
        </a:graphic>
      </p:graphicFrame>
      <p:sp>
        <p:nvSpPr>
          <p:cNvPr id="17" name="ZoneTexte 16">
            <a:extLst>
              <a:ext uri="{FF2B5EF4-FFF2-40B4-BE49-F238E27FC236}">
                <a16:creationId xmlns:a16="http://schemas.microsoft.com/office/drawing/2014/main" id="{F5CF1E75-078C-45FD-A8A2-B707ADEA0A95}"/>
              </a:ext>
            </a:extLst>
          </p:cNvPr>
          <p:cNvSpPr txBox="1"/>
          <p:nvPr/>
        </p:nvSpPr>
        <p:spPr>
          <a:xfrm>
            <a:off x="7409111" y="4752051"/>
            <a:ext cx="108347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fr-FR" b="1" i="0" dirty="0">
                <a:solidFill>
                  <a:srgbClr val="2B1D14"/>
                </a:solidFill>
                <a:effectLst/>
                <a:latin typeface="Arial" panose="020B0604020202020204" pitchFamily="34" charset="0"/>
              </a:rPr>
              <a:t>Statistiques des commandes</a:t>
            </a:r>
          </a:p>
          <a:p>
            <a:pPr indent="0" algn="l">
              <a:buNone/>
            </a:pPr>
            <a:r>
              <a:rPr lang="fr-FR" b="0" i="0" dirty="0">
                <a:solidFill>
                  <a:srgbClr val="2B1D14"/>
                </a:solidFill>
                <a:effectLst/>
                <a:latin typeface="Arial" panose="020B0604020202020204" pitchFamily="34" charset="0"/>
              </a:rPr>
              <a:t>Données issues de MongoDB : collection </a:t>
            </a:r>
            <a:r>
              <a:rPr lang="fr-FR" b="1" i="0" dirty="0" err="1">
                <a:solidFill>
                  <a:srgbClr val="2B1D14"/>
                </a:solidFill>
                <a:effectLst/>
                <a:latin typeface="Arial" panose="020B0604020202020204" pitchFamily="34" charset="0"/>
              </a:rPr>
              <a:t>orders_by_menu</a:t>
            </a:r>
            <a:r>
              <a:rPr lang="fr-FR" b="0" i="0" dirty="0">
                <a:solidFill>
                  <a:srgbClr val="2B1D14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1142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8BDAD40-5166-938D-A0F9-EE84229583A3}"/>
              </a:ext>
            </a:extLst>
          </p:cNvPr>
          <p:cNvSpPr txBox="1"/>
          <p:nvPr/>
        </p:nvSpPr>
        <p:spPr>
          <a:xfrm>
            <a:off x="6122079" y="753064"/>
            <a:ext cx="2964558" cy="475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89" dirty="0">
                <a:solidFill>
                  <a:schemeClr val="bg1"/>
                </a:solidFill>
              </a:rPr>
              <a:t>Vite et Gourmand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6C1F46-B13D-4659-E037-58B31772A533}"/>
              </a:ext>
            </a:extLst>
          </p:cNvPr>
          <p:cNvSpPr/>
          <p:nvPr/>
        </p:nvSpPr>
        <p:spPr>
          <a:xfrm>
            <a:off x="4524703" y="1774537"/>
            <a:ext cx="9475075" cy="10396319"/>
          </a:xfrm>
          <a:prstGeom prst="rect">
            <a:avLst/>
          </a:prstGeom>
          <a:solidFill>
            <a:srgbClr val="FFF7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7EEB7B-34D7-3D67-F869-74201DF72419}"/>
              </a:ext>
            </a:extLst>
          </p:cNvPr>
          <p:cNvSpPr/>
          <p:nvPr/>
        </p:nvSpPr>
        <p:spPr>
          <a:xfrm>
            <a:off x="4524703" y="10776671"/>
            <a:ext cx="9475075" cy="795871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Horaires</a:t>
            </a:r>
          </a:p>
          <a:p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Lundi à dimanche : 8h00 - 20h00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E5A26C2-016C-50E3-B8AA-2E1EACF8FDD8}"/>
              </a:ext>
            </a:extLst>
          </p:cNvPr>
          <p:cNvSpPr txBox="1"/>
          <p:nvPr/>
        </p:nvSpPr>
        <p:spPr>
          <a:xfrm>
            <a:off x="4524703" y="11623288"/>
            <a:ext cx="4703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>
                <a:solidFill>
                  <a:srgbClr val="5518AB"/>
                </a:solidFill>
              </a:rPr>
              <a:t>Mentions légales</a:t>
            </a:r>
            <a:r>
              <a:rPr lang="fr-FR" dirty="0">
                <a:solidFill>
                  <a:srgbClr val="5518AB"/>
                </a:solidFill>
              </a:rPr>
              <a:t> </a:t>
            </a:r>
            <a:r>
              <a:rPr lang="fr-FR" u="sng" dirty="0">
                <a:solidFill>
                  <a:srgbClr val="5518AB"/>
                </a:solidFill>
              </a:rPr>
              <a:t>Conditions générales de vente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5FC9F4-3614-D0B1-9FBD-B0383D9B4191}"/>
              </a:ext>
            </a:extLst>
          </p:cNvPr>
          <p:cNvSpPr/>
          <p:nvPr/>
        </p:nvSpPr>
        <p:spPr>
          <a:xfrm>
            <a:off x="7154913" y="2002996"/>
            <a:ext cx="5029201" cy="2254144"/>
          </a:xfrm>
          <a:prstGeom prst="rect">
            <a:avLst/>
          </a:prstGeom>
          <a:solidFill>
            <a:srgbClr val="8B2E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b="1" dirty="0">
                <a:solidFill>
                  <a:schemeClr val="bg1"/>
                </a:solidFill>
              </a:rPr>
              <a:t>Traiteur événementiel à Bordeaux depuis 25 ans</a:t>
            </a:r>
          </a:p>
          <a:p>
            <a:r>
              <a:rPr lang="fr-FR" dirty="0">
                <a:solidFill>
                  <a:schemeClr val="bg1"/>
                </a:solidFill>
              </a:rPr>
              <a:t>Julie et José accompagnent vos repas de famille, événements professionnels, Noël, Pâques et prestations sur mesure.</a:t>
            </a:r>
          </a:p>
          <a:p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C275C039-A634-6AD6-D979-6667EC99CB43}"/>
              </a:ext>
            </a:extLst>
          </p:cNvPr>
          <p:cNvSpPr/>
          <p:nvPr/>
        </p:nvSpPr>
        <p:spPr>
          <a:xfrm>
            <a:off x="7154913" y="6883617"/>
            <a:ext cx="5029201" cy="3791820"/>
          </a:xfrm>
          <a:prstGeom prst="roundRect">
            <a:avLst>
              <a:gd name="adj" fmla="val 5307"/>
            </a:avLst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23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483FA89B-602F-368D-C127-34C00B430B05}"/>
              </a:ext>
            </a:extLst>
          </p:cNvPr>
          <p:cNvSpPr/>
          <p:nvPr/>
        </p:nvSpPr>
        <p:spPr>
          <a:xfrm>
            <a:off x="7391677" y="7101831"/>
            <a:ext cx="4555675" cy="987968"/>
          </a:xfrm>
          <a:prstGeom prst="roundRect">
            <a:avLst/>
          </a:prstGeom>
          <a:solidFill>
            <a:srgbClr val="FFF1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Zakia — 3/5</a:t>
            </a:r>
            <a:endParaRPr lang="fr-FR" sz="1600" b="1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Note moyenne salle bruyante, prix assez élevés mais le repas était très bon</a:t>
            </a:r>
          </a:p>
          <a:p>
            <a:pPr algn="ctr"/>
            <a:endParaRPr lang="fr-FR" sz="1723" dirty="0">
              <a:solidFill>
                <a:schemeClr val="tx1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F997C89C-C59A-426F-DD63-AC257024FB2D}"/>
              </a:ext>
            </a:extLst>
          </p:cNvPr>
          <p:cNvSpPr/>
          <p:nvPr/>
        </p:nvSpPr>
        <p:spPr>
          <a:xfrm>
            <a:off x="7391677" y="8330680"/>
            <a:ext cx="4555675" cy="1002300"/>
          </a:xfrm>
          <a:prstGeom prst="roundRect">
            <a:avLst/>
          </a:prstGeom>
          <a:solidFill>
            <a:srgbClr val="FFF1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Zakia — 5/5</a:t>
            </a:r>
            <a:endParaRPr lang="fr-FR" sz="1600" b="1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Menu très bien présenté et l'accueil était chaleureux. Je recommande ce restaurant.</a:t>
            </a:r>
          </a:p>
          <a:p>
            <a:pPr algn="ctr"/>
            <a:endParaRPr lang="fr-FR" sz="1723" dirty="0">
              <a:solidFill>
                <a:schemeClr val="tx1"/>
              </a:solidFill>
            </a:endParaRP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CC888306-94E0-3F90-E4E1-C3C4A60B2221}"/>
              </a:ext>
            </a:extLst>
          </p:cNvPr>
          <p:cNvSpPr/>
          <p:nvPr/>
        </p:nvSpPr>
        <p:spPr>
          <a:xfrm>
            <a:off x="7391678" y="9507594"/>
            <a:ext cx="4555676" cy="874157"/>
          </a:xfrm>
          <a:prstGeom prst="roundRect">
            <a:avLst/>
          </a:prstGeom>
          <a:solidFill>
            <a:srgbClr val="FFF1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Julie — 5/5</a:t>
            </a:r>
            <a:endParaRPr lang="fr-FR" sz="1600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Très belle prestation et livraison ponctuelle</a:t>
            </a:r>
            <a:r>
              <a:rPr lang="fr-FR" dirty="0"/>
              <a:t>.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25D6BCF3-B97F-C661-2726-81291D54F108}"/>
              </a:ext>
            </a:extLst>
          </p:cNvPr>
          <p:cNvSpPr/>
          <p:nvPr/>
        </p:nvSpPr>
        <p:spPr>
          <a:xfrm>
            <a:off x="7154913" y="5321905"/>
            <a:ext cx="5016067" cy="1181611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Notre professionnalisme</a:t>
            </a:r>
          </a:p>
          <a:p>
            <a:r>
              <a:rPr lang="fr-FR" dirty="0">
                <a:solidFill>
                  <a:schemeClr val="tx1"/>
                </a:solidFill>
              </a:rPr>
              <a:t>Menus évolutifs, commande suivie, conditions visibles, gestion des allergènes et communication par mail à chaque étape importante.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E0259BD-805E-9B10-394A-CDFB7909BD21}"/>
              </a:ext>
            </a:extLst>
          </p:cNvPr>
          <p:cNvSpPr txBox="1"/>
          <p:nvPr/>
        </p:nvSpPr>
        <p:spPr>
          <a:xfrm>
            <a:off x="7154913" y="6503517"/>
            <a:ext cx="3802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Avis clients validés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E29C91F8-895B-1AC8-085F-988EF5C03F04}"/>
              </a:ext>
            </a:extLst>
          </p:cNvPr>
          <p:cNvSpPr/>
          <p:nvPr/>
        </p:nvSpPr>
        <p:spPr>
          <a:xfrm>
            <a:off x="7154913" y="3933124"/>
            <a:ext cx="5029201" cy="1210546"/>
          </a:xfrm>
          <a:prstGeom prst="roundRect">
            <a:avLst/>
          </a:prstGeom>
          <a:solidFill>
            <a:srgbClr val="8B2E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18869A18-67BE-3A89-6844-D2BE70981C7B}"/>
              </a:ext>
            </a:extLst>
          </p:cNvPr>
          <p:cNvSpPr/>
          <p:nvPr/>
        </p:nvSpPr>
        <p:spPr>
          <a:xfrm>
            <a:off x="7258380" y="4025544"/>
            <a:ext cx="1732340" cy="538662"/>
          </a:xfrm>
          <a:prstGeom prst="roundRect">
            <a:avLst/>
          </a:prstGeom>
          <a:solidFill>
            <a:srgbClr val="E58A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Voir les menus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43531DEA-FA79-362F-76AA-5B1DEDCF26EF}"/>
              </a:ext>
            </a:extLst>
          </p:cNvPr>
          <p:cNvSpPr txBox="1">
            <a:spLocks/>
          </p:cNvSpPr>
          <p:nvPr/>
        </p:nvSpPr>
        <p:spPr>
          <a:xfrm>
            <a:off x="4524704" y="0"/>
            <a:ext cx="9495956" cy="1797269"/>
          </a:xfrm>
          <a:prstGeom prst="rect">
            <a:avLst/>
          </a:prstGeom>
          <a:solidFill>
            <a:srgbClr val="8B2E16"/>
          </a:solidFill>
        </p:spPr>
        <p:txBody>
          <a:bodyPr>
            <a:normAutofit/>
          </a:bodyPr>
          <a:lstStyle>
            <a:lvl1pPr algn="l" defTabSz="16199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7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915" b="1">
                <a:solidFill>
                  <a:schemeClr val="bg1"/>
                </a:solidFill>
              </a:rPr>
              <a:t> </a:t>
            </a:r>
            <a:endParaRPr lang="fr-FR" sz="1915" b="1" dirty="0">
              <a:solidFill>
                <a:schemeClr val="bg1"/>
              </a:solidFill>
            </a:endParaRPr>
          </a:p>
        </p:txBody>
      </p:sp>
      <p:pic>
        <p:nvPicPr>
          <p:cNvPr id="15" name="Image 14" descr="Logo Vite &amp; Gourmand">
            <a:extLst>
              <a:ext uri="{FF2B5EF4-FFF2-40B4-BE49-F238E27FC236}">
                <a16:creationId xmlns:a16="http://schemas.microsoft.com/office/drawing/2014/main" id="{5F4C1009-4258-423B-8DCA-F79D4AA42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4355" y="205727"/>
            <a:ext cx="1398073" cy="141812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E3B3C9C-589F-C80C-2079-2AAF25F2A614}"/>
              </a:ext>
            </a:extLst>
          </p:cNvPr>
          <p:cNvSpPr/>
          <p:nvPr/>
        </p:nvSpPr>
        <p:spPr>
          <a:xfrm>
            <a:off x="8655268" y="613098"/>
            <a:ext cx="5344511" cy="792820"/>
          </a:xfrm>
          <a:prstGeom prst="rect">
            <a:avLst/>
          </a:prstGeom>
          <a:solidFill>
            <a:srgbClr val="8B2E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723" b="1" dirty="0">
                <a:solidFill>
                  <a:schemeClr val="bg1"/>
                </a:solidFill>
              </a:rPr>
              <a:t>Accueil               Menus            Contact            Connexion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CCB9AD8F-546D-E167-6711-2A790BDFC04B}"/>
              </a:ext>
            </a:extLst>
          </p:cNvPr>
          <p:cNvSpPr txBox="1"/>
          <p:nvPr/>
        </p:nvSpPr>
        <p:spPr>
          <a:xfrm>
            <a:off x="6187964" y="727280"/>
            <a:ext cx="2964558" cy="475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</a:rPr>
              <a:t>Vite et Gourmand</a:t>
            </a:r>
          </a:p>
        </p:txBody>
      </p:sp>
    </p:spTree>
    <p:extLst>
      <p:ext uri="{BB962C8B-B14F-4D97-AF65-F5344CB8AC3E}">
        <p14:creationId xmlns:p14="http://schemas.microsoft.com/office/powerpoint/2010/main" val="1788138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8638222-35B4-A83E-0DC1-EE29AEB140AF}"/>
              </a:ext>
            </a:extLst>
          </p:cNvPr>
          <p:cNvSpPr/>
          <p:nvPr/>
        </p:nvSpPr>
        <p:spPr>
          <a:xfrm>
            <a:off x="4524703" y="1774537"/>
            <a:ext cx="9475075" cy="10396319"/>
          </a:xfrm>
          <a:prstGeom prst="rect">
            <a:avLst/>
          </a:prstGeom>
          <a:solidFill>
            <a:srgbClr val="FFF7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2529AB-32AF-54A7-8AB8-3D6F028AE143}"/>
              </a:ext>
            </a:extLst>
          </p:cNvPr>
          <p:cNvSpPr/>
          <p:nvPr/>
        </p:nvSpPr>
        <p:spPr>
          <a:xfrm>
            <a:off x="4524703" y="10776671"/>
            <a:ext cx="9475075" cy="795871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Horaires</a:t>
            </a:r>
          </a:p>
          <a:p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Lundi à dimanche : 8h00 - 20h00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4FF30DD-703D-6F5F-C90D-42A907ADF871}"/>
              </a:ext>
            </a:extLst>
          </p:cNvPr>
          <p:cNvSpPr txBox="1"/>
          <p:nvPr/>
        </p:nvSpPr>
        <p:spPr>
          <a:xfrm>
            <a:off x="4524703" y="11623288"/>
            <a:ext cx="4703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>
                <a:solidFill>
                  <a:srgbClr val="5518AB"/>
                </a:solidFill>
              </a:rPr>
              <a:t>Mentions légales</a:t>
            </a:r>
            <a:r>
              <a:rPr lang="fr-FR" dirty="0">
                <a:solidFill>
                  <a:srgbClr val="5518AB"/>
                </a:solidFill>
              </a:rPr>
              <a:t> </a:t>
            </a:r>
            <a:r>
              <a:rPr lang="fr-FR" u="sng" dirty="0">
                <a:solidFill>
                  <a:srgbClr val="5518AB"/>
                </a:solidFill>
              </a:rPr>
              <a:t>Conditions générales de vente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44DD505-543D-6446-49AA-B89A6233B282}"/>
              </a:ext>
            </a:extLst>
          </p:cNvPr>
          <p:cNvSpPr/>
          <p:nvPr/>
        </p:nvSpPr>
        <p:spPr>
          <a:xfrm>
            <a:off x="6936828" y="2238703"/>
            <a:ext cx="4934606" cy="8040414"/>
          </a:xfrm>
          <a:prstGeom prst="roundRect">
            <a:avLst>
              <a:gd name="adj" fmla="val 3568"/>
            </a:avLst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8AF4365D-F570-7D62-B09D-B4D990DDB038}"/>
              </a:ext>
            </a:extLst>
          </p:cNvPr>
          <p:cNvSpPr/>
          <p:nvPr/>
        </p:nvSpPr>
        <p:spPr>
          <a:xfrm>
            <a:off x="7222793" y="2717296"/>
            <a:ext cx="4272455" cy="5102401"/>
          </a:xfrm>
          <a:prstGeom prst="roundRect">
            <a:avLst>
              <a:gd name="adj" fmla="val 3568"/>
            </a:avLst>
          </a:prstGeom>
          <a:solidFill>
            <a:srgbClr val="FFF1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2BB4631A-A061-DCE7-0707-45F19E6BB1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8621" y="3215151"/>
            <a:ext cx="3752193" cy="1924408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CCE122F3-03EB-E29D-1086-9BBC9446E73B}"/>
              </a:ext>
            </a:extLst>
          </p:cNvPr>
          <p:cNvSpPr txBox="1"/>
          <p:nvPr/>
        </p:nvSpPr>
        <p:spPr>
          <a:xfrm>
            <a:off x="7488621" y="5596759"/>
            <a:ext cx="37521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Menu Noël Gourmand</a:t>
            </a:r>
          </a:p>
          <a:p>
            <a:r>
              <a:rPr lang="fr-FR" dirty="0"/>
              <a:t>Menu festif complet pour repas de Noël.</a:t>
            </a:r>
          </a:p>
          <a:p>
            <a:r>
              <a:rPr lang="fr-FR" dirty="0"/>
              <a:t>Dès 10 personnes · 350,00 €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FEAFFC4C-B046-F6CA-E215-9D4CBFEAEFD3}"/>
              </a:ext>
            </a:extLst>
          </p:cNvPr>
          <p:cNvSpPr/>
          <p:nvPr/>
        </p:nvSpPr>
        <p:spPr>
          <a:xfrm>
            <a:off x="7488621" y="7078717"/>
            <a:ext cx="1502099" cy="412053"/>
          </a:xfrm>
          <a:prstGeom prst="roundRect">
            <a:avLst/>
          </a:prstGeom>
          <a:solidFill>
            <a:srgbClr val="E58A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Voir le détail</a:t>
            </a:r>
            <a:endParaRPr lang="fr-FR" dirty="0">
              <a:solidFill>
                <a:srgbClr val="FFFFFF"/>
              </a:solidFill>
            </a:endParaRP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2E03E147-EC24-5788-AA10-4D48B24FB44D}"/>
              </a:ext>
            </a:extLst>
          </p:cNvPr>
          <p:cNvSpPr txBox="1">
            <a:spLocks/>
          </p:cNvSpPr>
          <p:nvPr/>
        </p:nvSpPr>
        <p:spPr>
          <a:xfrm>
            <a:off x="4524704" y="0"/>
            <a:ext cx="9495956" cy="1797269"/>
          </a:xfrm>
          <a:prstGeom prst="rect">
            <a:avLst/>
          </a:prstGeom>
          <a:solidFill>
            <a:srgbClr val="8B2E16"/>
          </a:solidFill>
        </p:spPr>
        <p:txBody>
          <a:bodyPr>
            <a:normAutofit/>
          </a:bodyPr>
          <a:lstStyle>
            <a:lvl1pPr algn="l" defTabSz="16199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7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915" b="1">
                <a:solidFill>
                  <a:schemeClr val="bg1"/>
                </a:solidFill>
              </a:rPr>
              <a:t> </a:t>
            </a:r>
            <a:endParaRPr lang="fr-FR" sz="1915" b="1" dirty="0">
              <a:solidFill>
                <a:schemeClr val="bg1"/>
              </a:solidFill>
            </a:endParaRPr>
          </a:p>
        </p:txBody>
      </p:sp>
      <p:pic>
        <p:nvPicPr>
          <p:cNvPr id="12" name="Image 11" descr="Logo Vite &amp; Gourmand">
            <a:extLst>
              <a:ext uri="{FF2B5EF4-FFF2-40B4-BE49-F238E27FC236}">
                <a16:creationId xmlns:a16="http://schemas.microsoft.com/office/drawing/2014/main" id="{CCAE0C7C-20C5-A6E7-0752-7F87D0F53B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4355" y="205727"/>
            <a:ext cx="1398073" cy="141812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5BEE39B-8E80-92B1-7E94-905B24676812}"/>
              </a:ext>
            </a:extLst>
          </p:cNvPr>
          <p:cNvSpPr/>
          <p:nvPr/>
        </p:nvSpPr>
        <p:spPr>
          <a:xfrm>
            <a:off x="8655268" y="613098"/>
            <a:ext cx="5344511" cy="792820"/>
          </a:xfrm>
          <a:prstGeom prst="rect">
            <a:avLst/>
          </a:prstGeom>
          <a:solidFill>
            <a:srgbClr val="8B2E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723" b="1" dirty="0">
                <a:solidFill>
                  <a:schemeClr val="bg1"/>
                </a:solidFill>
              </a:rPr>
              <a:t>Accueil               Menus            Contact            Connexion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DA056CD-B49C-FF67-AFBB-2590AF08292B}"/>
              </a:ext>
            </a:extLst>
          </p:cNvPr>
          <p:cNvSpPr txBox="1"/>
          <p:nvPr/>
        </p:nvSpPr>
        <p:spPr>
          <a:xfrm>
            <a:off x="6187964" y="727280"/>
            <a:ext cx="2964558" cy="475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</a:rPr>
              <a:t>Vite et Gourmand</a:t>
            </a:r>
          </a:p>
        </p:txBody>
      </p:sp>
    </p:spTree>
    <p:extLst>
      <p:ext uri="{BB962C8B-B14F-4D97-AF65-F5344CB8AC3E}">
        <p14:creationId xmlns:p14="http://schemas.microsoft.com/office/powerpoint/2010/main" val="2946694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F5333079-C914-2FB7-91CE-1972E6F8B72A}"/>
              </a:ext>
            </a:extLst>
          </p:cNvPr>
          <p:cNvSpPr txBox="1">
            <a:spLocks/>
          </p:cNvSpPr>
          <p:nvPr/>
        </p:nvSpPr>
        <p:spPr>
          <a:xfrm>
            <a:off x="4524704" y="0"/>
            <a:ext cx="9495956" cy="1797269"/>
          </a:xfrm>
          <a:prstGeom prst="rect">
            <a:avLst/>
          </a:prstGeom>
          <a:solidFill>
            <a:srgbClr val="8B2E16"/>
          </a:solidFill>
        </p:spPr>
        <p:txBody>
          <a:bodyPr>
            <a:normAutofit/>
          </a:bodyPr>
          <a:lstStyle>
            <a:lvl1pPr algn="l" defTabSz="16199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7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915" b="1">
                <a:solidFill>
                  <a:schemeClr val="bg1"/>
                </a:solidFill>
              </a:rPr>
              <a:t> </a:t>
            </a:r>
            <a:endParaRPr lang="fr-FR" sz="1915" b="1" dirty="0">
              <a:solidFill>
                <a:schemeClr val="bg1"/>
              </a:solidFill>
            </a:endParaRPr>
          </a:p>
        </p:txBody>
      </p:sp>
      <p:pic>
        <p:nvPicPr>
          <p:cNvPr id="7" name="Image 6" descr="Logo Vite &amp; Gourmand">
            <a:extLst>
              <a:ext uri="{FF2B5EF4-FFF2-40B4-BE49-F238E27FC236}">
                <a16:creationId xmlns:a16="http://schemas.microsoft.com/office/drawing/2014/main" id="{062EBAA5-49BF-8EEF-D3BF-326DDEF25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355" y="205727"/>
            <a:ext cx="1398073" cy="141812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676BC78-A3EC-0AC1-4D6D-DA42A56FAB8F}"/>
              </a:ext>
            </a:extLst>
          </p:cNvPr>
          <p:cNvSpPr/>
          <p:nvPr/>
        </p:nvSpPr>
        <p:spPr>
          <a:xfrm>
            <a:off x="8655268" y="613098"/>
            <a:ext cx="5344511" cy="792820"/>
          </a:xfrm>
          <a:prstGeom prst="rect">
            <a:avLst/>
          </a:prstGeom>
          <a:solidFill>
            <a:srgbClr val="8B2E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723" b="1" dirty="0">
                <a:solidFill>
                  <a:schemeClr val="bg1"/>
                </a:solidFill>
              </a:rPr>
              <a:t>Accueil               Menus            Contact            Connexion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C73C8E-161D-0122-944F-9CCF3C141377}"/>
              </a:ext>
            </a:extLst>
          </p:cNvPr>
          <p:cNvSpPr/>
          <p:nvPr/>
        </p:nvSpPr>
        <p:spPr>
          <a:xfrm>
            <a:off x="4524703" y="1774537"/>
            <a:ext cx="9475075" cy="10396319"/>
          </a:xfrm>
          <a:prstGeom prst="rect">
            <a:avLst/>
          </a:prstGeom>
          <a:solidFill>
            <a:srgbClr val="FFF7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35AB8A-E62A-FEA9-6DB9-4ED4204E4A81}"/>
              </a:ext>
            </a:extLst>
          </p:cNvPr>
          <p:cNvSpPr/>
          <p:nvPr/>
        </p:nvSpPr>
        <p:spPr>
          <a:xfrm>
            <a:off x="4524703" y="10776671"/>
            <a:ext cx="9475075" cy="795871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Horaires</a:t>
            </a:r>
          </a:p>
          <a:p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Lundi à dimanche : 8h00 - 20h00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1CDE718-1E1A-9B74-46C1-DA54C84B96E0}"/>
              </a:ext>
            </a:extLst>
          </p:cNvPr>
          <p:cNvSpPr txBox="1"/>
          <p:nvPr/>
        </p:nvSpPr>
        <p:spPr>
          <a:xfrm>
            <a:off x="4524703" y="11623288"/>
            <a:ext cx="4703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>
                <a:solidFill>
                  <a:srgbClr val="5518AB"/>
                </a:solidFill>
              </a:rPr>
              <a:t>Mentions légales</a:t>
            </a:r>
            <a:r>
              <a:rPr lang="fr-FR" dirty="0">
                <a:solidFill>
                  <a:srgbClr val="5518AB"/>
                </a:solidFill>
              </a:rPr>
              <a:t> </a:t>
            </a:r>
            <a:r>
              <a:rPr lang="fr-FR" u="sng" dirty="0">
                <a:solidFill>
                  <a:srgbClr val="5518AB"/>
                </a:solidFill>
              </a:rPr>
              <a:t>Conditions générales de vente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0D654253-8708-0DF4-B692-CD431E0E6C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962" y="1995078"/>
            <a:ext cx="6148551" cy="2413139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3884D1FE-105A-B2D4-1FCA-CA624D77780F}"/>
              </a:ext>
            </a:extLst>
          </p:cNvPr>
          <p:cNvSpPr txBox="1"/>
          <p:nvPr/>
        </p:nvSpPr>
        <p:spPr>
          <a:xfrm>
            <a:off x="6138481" y="4490702"/>
            <a:ext cx="6180083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Menu festif complet pour repas de Noël.</a:t>
            </a:r>
          </a:p>
          <a:p>
            <a:r>
              <a:rPr lang="fr-FR" b="1" dirty="0"/>
              <a:t>Thème :</a:t>
            </a:r>
            <a:r>
              <a:rPr lang="fr-FR" dirty="0"/>
              <a:t> Noël · </a:t>
            </a:r>
            <a:r>
              <a:rPr lang="fr-FR" b="1" dirty="0"/>
              <a:t>Régime :</a:t>
            </a:r>
            <a:r>
              <a:rPr lang="fr-FR" dirty="0"/>
              <a:t> Classique</a:t>
            </a:r>
          </a:p>
          <a:p>
            <a:r>
              <a:rPr lang="fr-FR" b="1" dirty="0"/>
              <a:t>Minimum :</a:t>
            </a:r>
            <a:r>
              <a:rPr lang="fr-FR" dirty="0"/>
              <a:t> 10 personnes · </a:t>
            </a:r>
            <a:r>
              <a:rPr lang="fr-FR" b="1" dirty="0"/>
              <a:t>Prix :</a:t>
            </a:r>
            <a:r>
              <a:rPr lang="fr-FR" dirty="0"/>
              <a:t> 350,00 € · </a:t>
            </a:r>
            <a:r>
              <a:rPr lang="fr-FR" b="1" dirty="0"/>
              <a:t>Stock :</a:t>
            </a:r>
            <a:r>
              <a:rPr lang="fr-FR" dirty="0"/>
              <a:t> 5</a:t>
            </a:r>
          </a:p>
          <a:p>
            <a:endParaRPr lang="fr-FR" dirty="0"/>
          </a:p>
          <a:p>
            <a:r>
              <a:rPr lang="fr-FR" b="1" dirty="0"/>
              <a:t>Conditions importantes</a:t>
            </a:r>
          </a:p>
          <a:p>
            <a:endParaRPr lang="fr-FR" sz="800" b="1" dirty="0"/>
          </a:p>
          <a:p>
            <a:r>
              <a:rPr lang="fr-FR" dirty="0"/>
              <a:t>Commande au minimum 14 jours avant. Conservation au frais entre 0 et 4 °C.</a:t>
            </a:r>
          </a:p>
          <a:p>
            <a:endParaRPr lang="fr-FR" sz="800" dirty="0"/>
          </a:p>
          <a:p>
            <a:r>
              <a:rPr lang="fr-FR" b="1" dirty="0"/>
              <a:t>Plats</a:t>
            </a:r>
          </a:p>
          <a:p>
            <a:endParaRPr lang="fr-FR" dirty="0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8A0EF3C8-F565-7336-C116-62B460F7CFD9}"/>
              </a:ext>
            </a:extLst>
          </p:cNvPr>
          <p:cNvSpPr/>
          <p:nvPr/>
        </p:nvSpPr>
        <p:spPr>
          <a:xfrm>
            <a:off x="6311903" y="7171758"/>
            <a:ext cx="5833241" cy="617563"/>
          </a:xfrm>
          <a:prstGeom prst="roundRect">
            <a:avLst/>
          </a:prstGeom>
          <a:solidFill>
            <a:srgbClr val="FFF1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Entrée : Velouté de potimarron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Entrée chaude de saison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97922942-63D5-8F41-ECC1-203B4C36E876}"/>
              </a:ext>
            </a:extLst>
          </p:cNvPr>
          <p:cNvSpPr/>
          <p:nvPr/>
        </p:nvSpPr>
        <p:spPr>
          <a:xfrm>
            <a:off x="6311903" y="8065683"/>
            <a:ext cx="5833241" cy="799823"/>
          </a:xfrm>
          <a:prstGeom prst="roundRect">
            <a:avLst/>
          </a:prstGeom>
          <a:solidFill>
            <a:srgbClr val="FFF1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Plat : Suprême de volaille sauce morilles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Plat traiteur classique</a:t>
            </a:r>
          </a:p>
          <a:p>
            <a:r>
              <a:rPr lang="fr-FR" b="1" dirty="0">
                <a:solidFill>
                  <a:schemeClr val="tx1"/>
                </a:solidFill>
              </a:rPr>
              <a:t>Allergènes :</a:t>
            </a:r>
            <a:r>
              <a:rPr lang="fr-FR" dirty="0">
                <a:solidFill>
                  <a:schemeClr val="tx1"/>
                </a:solidFill>
              </a:rPr>
              <a:t> lait, sulfites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AC5EFF68-7AFC-2208-5BA6-C4F5E089678C}"/>
              </a:ext>
            </a:extLst>
          </p:cNvPr>
          <p:cNvSpPr/>
          <p:nvPr/>
        </p:nvSpPr>
        <p:spPr>
          <a:xfrm>
            <a:off x="6345618" y="9241481"/>
            <a:ext cx="5833241" cy="783241"/>
          </a:xfrm>
          <a:prstGeom prst="roundRect">
            <a:avLst/>
          </a:prstGeom>
          <a:solidFill>
            <a:srgbClr val="FFF1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Dessert : Bûche chocolat noisette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Dessert de fête</a:t>
            </a:r>
          </a:p>
          <a:p>
            <a:r>
              <a:rPr lang="fr-FR" b="1" dirty="0">
                <a:solidFill>
                  <a:schemeClr val="tx1"/>
                </a:solidFill>
              </a:rPr>
              <a:t>Allergènes :</a:t>
            </a:r>
            <a:r>
              <a:rPr lang="fr-FR" dirty="0">
                <a:solidFill>
                  <a:schemeClr val="tx1"/>
                </a:solidFill>
              </a:rPr>
              <a:t> fruits à coque, gluten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58B22822-AEBB-A6E0-71EA-86B1AA1A51C8}"/>
              </a:ext>
            </a:extLst>
          </p:cNvPr>
          <p:cNvSpPr/>
          <p:nvPr/>
        </p:nvSpPr>
        <p:spPr>
          <a:xfrm>
            <a:off x="6337737" y="10247486"/>
            <a:ext cx="2317531" cy="425830"/>
          </a:xfrm>
          <a:prstGeom prst="roundRect">
            <a:avLst/>
          </a:prstGeom>
          <a:solidFill>
            <a:srgbClr val="E58A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Commander ce menu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0393A1B-924A-391C-789E-D74212305335}"/>
              </a:ext>
            </a:extLst>
          </p:cNvPr>
          <p:cNvSpPr txBox="1"/>
          <p:nvPr/>
        </p:nvSpPr>
        <p:spPr>
          <a:xfrm>
            <a:off x="6187964" y="727280"/>
            <a:ext cx="2964558" cy="475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</a:rPr>
              <a:t>Vite et Gourmand</a:t>
            </a:r>
          </a:p>
        </p:txBody>
      </p:sp>
    </p:spTree>
    <p:extLst>
      <p:ext uri="{BB962C8B-B14F-4D97-AF65-F5344CB8AC3E}">
        <p14:creationId xmlns:p14="http://schemas.microsoft.com/office/powerpoint/2010/main" val="4241265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59E17-A6DF-1670-68AE-21F0D2363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D7EFD11-218E-939B-4C04-A09EFFA0B145}"/>
              </a:ext>
            </a:extLst>
          </p:cNvPr>
          <p:cNvSpPr/>
          <p:nvPr/>
        </p:nvSpPr>
        <p:spPr>
          <a:xfrm>
            <a:off x="-1" y="10165240"/>
            <a:ext cx="21599525" cy="1044632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Horaires</a:t>
            </a:r>
          </a:p>
          <a:p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Lundi à dimanche : 8h00 - 20h00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01F5A24-F570-E5E1-8A9E-A17FB49F36AE}"/>
              </a:ext>
            </a:extLst>
          </p:cNvPr>
          <p:cNvSpPr txBox="1"/>
          <p:nvPr/>
        </p:nvSpPr>
        <p:spPr>
          <a:xfrm>
            <a:off x="241540" y="11714672"/>
            <a:ext cx="4960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>
                <a:solidFill>
                  <a:srgbClr val="5518AB"/>
                </a:solidFill>
              </a:rPr>
              <a:t>Mentions légales</a:t>
            </a:r>
            <a:r>
              <a:rPr lang="fr-FR" dirty="0">
                <a:solidFill>
                  <a:srgbClr val="5518AB"/>
                </a:solidFill>
              </a:rPr>
              <a:t> </a:t>
            </a:r>
            <a:r>
              <a:rPr lang="fr-FR" u="sng" dirty="0">
                <a:solidFill>
                  <a:srgbClr val="5518AB"/>
                </a:solidFill>
              </a:rPr>
              <a:t>Conditions générales de vente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85A75BB-2E79-3269-3DCA-C1AE1E94B18F}"/>
              </a:ext>
            </a:extLst>
          </p:cNvPr>
          <p:cNvSpPr/>
          <p:nvPr/>
        </p:nvSpPr>
        <p:spPr>
          <a:xfrm>
            <a:off x="6952593" y="1598514"/>
            <a:ext cx="7583213" cy="204803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74EFD6-79AC-201D-BB28-5E73A9FA23D1}"/>
              </a:ext>
            </a:extLst>
          </p:cNvPr>
          <p:cNvSpPr/>
          <p:nvPr/>
        </p:nvSpPr>
        <p:spPr>
          <a:xfrm>
            <a:off x="6952593" y="1085090"/>
            <a:ext cx="7583213" cy="230906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b="1" dirty="0">
                <a:solidFill>
                  <a:schemeClr val="tx1"/>
                </a:solidFill>
              </a:rPr>
              <a:t>Titre principal</a:t>
            </a:r>
          </a:p>
          <a:p>
            <a:endParaRPr lang="fr-FR" sz="2000" b="1" dirty="0">
              <a:solidFill>
                <a:schemeClr val="tx1"/>
              </a:solidFill>
            </a:endParaRPr>
          </a:p>
          <a:p>
            <a:r>
              <a:rPr lang="fr-FR" sz="2000" dirty="0">
                <a:solidFill>
                  <a:schemeClr val="tx1"/>
                </a:solidFill>
              </a:rPr>
              <a:t>Quelques lignes de texte</a:t>
            </a:r>
          </a:p>
          <a:p>
            <a:endParaRPr lang="fr-FR" sz="2000" dirty="0">
              <a:solidFill>
                <a:schemeClr val="tx1"/>
              </a:solidFill>
            </a:endParaRPr>
          </a:p>
          <a:p>
            <a:endParaRPr lang="fr-FR" sz="2000" dirty="0">
              <a:solidFill>
                <a:schemeClr val="tx1"/>
              </a:solidFill>
            </a:endParaRPr>
          </a:p>
          <a:p>
            <a:endParaRPr lang="fr-FR" sz="2000" dirty="0">
              <a:solidFill>
                <a:schemeClr val="tx1"/>
              </a:solidFill>
            </a:endParaRPr>
          </a:p>
          <a:p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C875E1-FDFA-072B-C969-E7B0B98F638B}"/>
              </a:ext>
            </a:extLst>
          </p:cNvPr>
          <p:cNvSpPr/>
          <p:nvPr/>
        </p:nvSpPr>
        <p:spPr>
          <a:xfrm>
            <a:off x="7689484" y="2949733"/>
            <a:ext cx="1895803" cy="42106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Voir les menus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FB01E612-61A2-589B-0032-813AF7C563B3}"/>
              </a:ext>
            </a:extLst>
          </p:cNvPr>
          <p:cNvSpPr/>
          <p:nvPr/>
        </p:nvSpPr>
        <p:spPr>
          <a:xfrm>
            <a:off x="6952593" y="5390103"/>
            <a:ext cx="7583213" cy="4549378"/>
          </a:xfrm>
          <a:prstGeom prst="roundRect">
            <a:avLst>
              <a:gd name="adj" fmla="val 5307"/>
            </a:avLst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23" dirty="0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0694C5FA-FA68-BDBD-44E5-F81145B1F9AF}"/>
              </a:ext>
            </a:extLst>
          </p:cNvPr>
          <p:cNvSpPr/>
          <p:nvPr/>
        </p:nvSpPr>
        <p:spPr>
          <a:xfrm>
            <a:off x="7558970" y="6190017"/>
            <a:ext cx="6147131" cy="957928"/>
          </a:xfrm>
          <a:prstGeom prst="round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Nom — Note</a:t>
            </a:r>
          </a:p>
          <a:p>
            <a:endParaRPr lang="fr-FR" sz="1000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Commentaire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078DFC06-BE82-0681-D81C-44B1F3422FCF}"/>
              </a:ext>
            </a:extLst>
          </p:cNvPr>
          <p:cNvSpPr/>
          <p:nvPr/>
        </p:nvSpPr>
        <p:spPr>
          <a:xfrm>
            <a:off x="7558970" y="7444692"/>
            <a:ext cx="6147131" cy="957928"/>
          </a:xfrm>
          <a:prstGeom prst="round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 b="1">
                <a:solidFill>
                  <a:schemeClr val="tx1"/>
                </a:solidFill>
              </a:rPr>
              <a:t>Nom — Note</a:t>
            </a:r>
          </a:p>
          <a:p>
            <a:endParaRPr lang="fr-FR" sz="900">
              <a:solidFill>
                <a:schemeClr val="tx1"/>
              </a:solidFill>
            </a:endParaRPr>
          </a:p>
          <a:p>
            <a:r>
              <a:rPr lang="fr-FR" sz="1600">
                <a:solidFill>
                  <a:schemeClr val="tx1"/>
                </a:solidFill>
              </a:rPr>
              <a:t>Commentaire</a:t>
            </a:r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985D978C-81C0-631A-387E-670E76F21F90}"/>
              </a:ext>
            </a:extLst>
          </p:cNvPr>
          <p:cNvSpPr/>
          <p:nvPr/>
        </p:nvSpPr>
        <p:spPr>
          <a:xfrm>
            <a:off x="7558970" y="8657457"/>
            <a:ext cx="6147132" cy="999838"/>
          </a:xfrm>
          <a:prstGeom prst="round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Nom — Note</a:t>
            </a:r>
          </a:p>
          <a:p>
            <a:endParaRPr lang="fr-FR" sz="1000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Commentaire</a:t>
            </a:r>
            <a:r>
              <a:rPr lang="fr-FR" dirty="0"/>
              <a:t>.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A8A2BB43-A0C9-393E-FB21-133EC6D8BEA7}"/>
              </a:ext>
            </a:extLst>
          </p:cNvPr>
          <p:cNvSpPr/>
          <p:nvPr/>
        </p:nvSpPr>
        <p:spPr>
          <a:xfrm>
            <a:off x="6952593" y="3953633"/>
            <a:ext cx="7583213" cy="1139723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Notre professionnalisme</a:t>
            </a:r>
          </a:p>
          <a:p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Description des menus, commandes, conditions, allergènes et communication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0D175AC5-CAC0-8C6D-8740-994EB3B3A443}"/>
              </a:ext>
            </a:extLst>
          </p:cNvPr>
          <p:cNvSpPr txBox="1"/>
          <p:nvPr/>
        </p:nvSpPr>
        <p:spPr>
          <a:xfrm>
            <a:off x="7706550" y="5587741"/>
            <a:ext cx="4668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Avis clients validés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FEFD2DD-F78A-8ECA-FB0B-01AEEFF5DC1B}"/>
              </a:ext>
            </a:extLst>
          </p:cNvPr>
          <p:cNvSpPr/>
          <p:nvPr/>
        </p:nvSpPr>
        <p:spPr>
          <a:xfrm>
            <a:off x="-3491" y="-11084"/>
            <a:ext cx="21599524" cy="8779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4481A04-2E07-97EF-B74D-0C4EE742D90F}"/>
              </a:ext>
            </a:extLst>
          </p:cNvPr>
          <p:cNvSpPr/>
          <p:nvPr/>
        </p:nvSpPr>
        <p:spPr>
          <a:xfrm>
            <a:off x="417107" y="108665"/>
            <a:ext cx="751688" cy="650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LOGO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27E1BBD-A4EB-AB47-6D66-00A6D9EE71D6}"/>
              </a:ext>
            </a:extLst>
          </p:cNvPr>
          <p:cNvSpPr/>
          <p:nvPr/>
        </p:nvSpPr>
        <p:spPr>
          <a:xfrm>
            <a:off x="18176987" y="316552"/>
            <a:ext cx="518075" cy="1460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A964147-3F99-0219-270A-E0DF03C6DC6B}"/>
              </a:ext>
            </a:extLst>
          </p:cNvPr>
          <p:cNvSpPr/>
          <p:nvPr/>
        </p:nvSpPr>
        <p:spPr>
          <a:xfrm>
            <a:off x="19091387" y="316552"/>
            <a:ext cx="518075" cy="1585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E59B8B3-2A73-8D32-20EF-760DD2D05A87}"/>
              </a:ext>
            </a:extLst>
          </p:cNvPr>
          <p:cNvSpPr/>
          <p:nvPr/>
        </p:nvSpPr>
        <p:spPr>
          <a:xfrm>
            <a:off x="20005787" y="310489"/>
            <a:ext cx="518076" cy="1460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69C1B9D-56AB-3E4D-30BE-9E92543C54DB}"/>
              </a:ext>
            </a:extLst>
          </p:cNvPr>
          <p:cNvSpPr/>
          <p:nvPr/>
        </p:nvSpPr>
        <p:spPr>
          <a:xfrm>
            <a:off x="20920187" y="310489"/>
            <a:ext cx="518076" cy="1646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83A1A5C1-0931-DB36-C86E-F265D3C3D626}"/>
              </a:ext>
            </a:extLst>
          </p:cNvPr>
          <p:cNvSpPr txBox="1"/>
          <p:nvPr/>
        </p:nvSpPr>
        <p:spPr>
          <a:xfrm>
            <a:off x="8212721" y="207184"/>
            <a:ext cx="191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Vite &amp; Gourmand</a:t>
            </a:r>
          </a:p>
        </p:txBody>
      </p:sp>
    </p:spTree>
    <p:extLst>
      <p:ext uri="{BB962C8B-B14F-4D97-AF65-F5344CB8AC3E}">
        <p14:creationId xmlns:p14="http://schemas.microsoft.com/office/powerpoint/2010/main" val="2010323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10663-4A3B-67A3-1618-186DC82BD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F9D90C1-D9A4-7CE1-E7FC-8C43265241BF}"/>
              </a:ext>
            </a:extLst>
          </p:cNvPr>
          <p:cNvSpPr txBox="1"/>
          <p:nvPr/>
        </p:nvSpPr>
        <p:spPr>
          <a:xfrm>
            <a:off x="792952" y="341591"/>
            <a:ext cx="3051420" cy="475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89" dirty="0">
                <a:solidFill>
                  <a:schemeClr val="bg1"/>
                </a:solidFill>
              </a:rPr>
              <a:t>Vite et Gourmand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978825-506B-DA32-8B9A-F683489FD2A1}"/>
              </a:ext>
            </a:extLst>
          </p:cNvPr>
          <p:cNvSpPr/>
          <p:nvPr/>
        </p:nvSpPr>
        <p:spPr>
          <a:xfrm>
            <a:off x="0" y="10165240"/>
            <a:ext cx="21599524" cy="1044632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FOOTER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BFD8ED6-3339-3189-D36F-275504846B7B}"/>
              </a:ext>
            </a:extLst>
          </p:cNvPr>
          <p:cNvSpPr txBox="1"/>
          <p:nvPr/>
        </p:nvSpPr>
        <p:spPr>
          <a:xfrm>
            <a:off x="157769" y="11410617"/>
            <a:ext cx="737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Horaires - Mentions légales</a:t>
            </a:r>
            <a:r>
              <a:rPr lang="fr-FR" dirty="0"/>
              <a:t> </a:t>
            </a:r>
            <a:r>
              <a:rPr lang="fr-FR" u="sng" dirty="0"/>
              <a:t>Conditions générales de vente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F07EF1-73DC-7919-24E9-18F6F463F538}"/>
              </a:ext>
            </a:extLst>
          </p:cNvPr>
          <p:cNvSpPr/>
          <p:nvPr/>
        </p:nvSpPr>
        <p:spPr>
          <a:xfrm>
            <a:off x="-3491" y="-11084"/>
            <a:ext cx="21599524" cy="8779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549336-826A-3D8E-89A9-9A328128F256}"/>
              </a:ext>
            </a:extLst>
          </p:cNvPr>
          <p:cNvSpPr/>
          <p:nvPr/>
        </p:nvSpPr>
        <p:spPr>
          <a:xfrm>
            <a:off x="417107" y="108665"/>
            <a:ext cx="751688" cy="650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LOGO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7980DE-6E7F-31D9-0EDA-4E8368B570DE}"/>
              </a:ext>
            </a:extLst>
          </p:cNvPr>
          <p:cNvSpPr/>
          <p:nvPr/>
        </p:nvSpPr>
        <p:spPr>
          <a:xfrm>
            <a:off x="18176987" y="316552"/>
            <a:ext cx="518075" cy="1460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1505C47-7557-9F7E-38C6-793F6DE542DC}"/>
              </a:ext>
            </a:extLst>
          </p:cNvPr>
          <p:cNvSpPr/>
          <p:nvPr/>
        </p:nvSpPr>
        <p:spPr>
          <a:xfrm>
            <a:off x="19091387" y="316552"/>
            <a:ext cx="518075" cy="1585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A77F5F-9A28-9CDD-A4DF-B25247F0431E}"/>
              </a:ext>
            </a:extLst>
          </p:cNvPr>
          <p:cNvSpPr/>
          <p:nvPr/>
        </p:nvSpPr>
        <p:spPr>
          <a:xfrm>
            <a:off x="20005787" y="310489"/>
            <a:ext cx="518076" cy="1460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877972-778F-EFDE-ED1A-F24608D5325A}"/>
              </a:ext>
            </a:extLst>
          </p:cNvPr>
          <p:cNvSpPr/>
          <p:nvPr/>
        </p:nvSpPr>
        <p:spPr>
          <a:xfrm>
            <a:off x="20920187" y="310489"/>
            <a:ext cx="518076" cy="1646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BDF9C3E6-9D65-5738-5531-DF023FFD5E26}"/>
              </a:ext>
            </a:extLst>
          </p:cNvPr>
          <p:cNvSpPr txBox="1"/>
          <p:nvPr/>
        </p:nvSpPr>
        <p:spPr>
          <a:xfrm>
            <a:off x="8212721" y="207184"/>
            <a:ext cx="191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Vite &amp; Gourmand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2CE4F6FC-575D-E03F-CF85-C37B2E41A87B}"/>
              </a:ext>
            </a:extLst>
          </p:cNvPr>
          <p:cNvSpPr/>
          <p:nvPr/>
        </p:nvSpPr>
        <p:spPr>
          <a:xfrm>
            <a:off x="5692328" y="1241721"/>
            <a:ext cx="9678838" cy="8600498"/>
          </a:xfrm>
          <a:prstGeom prst="roundRect">
            <a:avLst>
              <a:gd name="adj" fmla="val 3224"/>
            </a:avLst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3D83E9D8-AD1A-07DC-E218-3E58A6DB1B92}"/>
              </a:ext>
            </a:extLst>
          </p:cNvPr>
          <p:cNvSpPr/>
          <p:nvPr/>
        </p:nvSpPr>
        <p:spPr>
          <a:xfrm>
            <a:off x="5960342" y="1408995"/>
            <a:ext cx="8902460" cy="8265950"/>
          </a:xfrm>
          <a:prstGeom prst="roundRect">
            <a:avLst>
              <a:gd name="adj" fmla="val 315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93BA43EA-7A2A-39E5-0F7A-2B7C391717A4}"/>
              </a:ext>
            </a:extLst>
          </p:cNvPr>
          <p:cNvSpPr txBox="1"/>
          <p:nvPr/>
        </p:nvSpPr>
        <p:spPr>
          <a:xfrm>
            <a:off x="6652749" y="4896465"/>
            <a:ext cx="583145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Nom du Menu</a:t>
            </a:r>
            <a:endParaRPr lang="fr-FR" b="1" dirty="0"/>
          </a:p>
          <a:p>
            <a:endParaRPr lang="fr-FR" b="1" dirty="0"/>
          </a:p>
          <a:p>
            <a:r>
              <a:rPr lang="fr-FR" dirty="0"/>
              <a:t>Description Menu</a:t>
            </a:r>
          </a:p>
          <a:p>
            <a:endParaRPr lang="fr-FR" dirty="0"/>
          </a:p>
          <a:p>
            <a:r>
              <a:rPr lang="fr-FR" dirty="0"/>
              <a:t>Nb personnes · Prix</a:t>
            </a:r>
          </a:p>
          <a:p>
            <a:endParaRPr lang="fr-FR" dirty="0"/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C3C50791-C0A8-6A03-2952-DA43C4F5D3EA}"/>
              </a:ext>
            </a:extLst>
          </p:cNvPr>
          <p:cNvSpPr/>
          <p:nvPr/>
        </p:nvSpPr>
        <p:spPr>
          <a:xfrm>
            <a:off x="6652749" y="6681569"/>
            <a:ext cx="1466492" cy="46583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/>
              <a:t>Voir le détail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B8ED022-AC12-0FD2-F87A-93DD32172B31}"/>
              </a:ext>
            </a:extLst>
          </p:cNvPr>
          <p:cNvSpPr/>
          <p:nvPr/>
        </p:nvSpPr>
        <p:spPr>
          <a:xfrm>
            <a:off x="6652750" y="1471563"/>
            <a:ext cx="5518230" cy="31792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Image</a:t>
            </a:r>
          </a:p>
        </p:txBody>
      </p: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135FED37-E9E3-0623-7695-5D8CE499D4EB}"/>
              </a:ext>
            </a:extLst>
          </p:cNvPr>
          <p:cNvCxnSpPr>
            <a:cxnSpLocks/>
          </p:cNvCxnSpPr>
          <p:nvPr/>
        </p:nvCxnSpPr>
        <p:spPr>
          <a:xfrm>
            <a:off x="6652749" y="1471563"/>
            <a:ext cx="5518230" cy="31792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249DC6BF-3A7B-4C3D-FC31-98FBC0AAE6CC}"/>
              </a:ext>
            </a:extLst>
          </p:cNvPr>
          <p:cNvCxnSpPr>
            <a:cxnSpLocks/>
          </p:cNvCxnSpPr>
          <p:nvPr/>
        </p:nvCxnSpPr>
        <p:spPr>
          <a:xfrm flipH="1">
            <a:off x="6652749" y="1471563"/>
            <a:ext cx="5518230" cy="31792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2923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126F9-FAC1-5814-4EF7-E233820F8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B07608-F627-74B3-86BB-8C32925710E2}"/>
              </a:ext>
            </a:extLst>
          </p:cNvPr>
          <p:cNvSpPr txBox="1">
            <a:spLocks/>
          </p:cNvSpPr>
          <p:nvPr/>
        </p:nvSpPr>
        <p:spPr>
          <a:xfrm>
            <a:off x="-2" y="203429"/>
            <a:ext cx="21599525" cy="650857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algn="l" defTabSz="16199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7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915" b="1">
                <a:solidFill>
                  <a:schemeClr val="bg1"/>
                </a:solidFill>
              </a:rPr>
              <a:t> </a:t>
            </a:r>
            <a:endParaRPr lang="fr-FR" sz="1915" b="1" dirty="0">
              <a:solidFill>
                <a:schemeClr val="bg1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2F6B17B-62D5-49B0-EEDD-83C7D63C1F62}"/>
              </a:ext>
            </a:extLst>
          </p:cNvPr>
          <p:cNvSpPr txBox="1"/>
          <p:nvPr/>
        </p:nvSpPr>
        <p:spPr>
          <a:xfrm>
            <a:off x="792952" y="341591"/>
            <a:ext cx="3051420" cy="475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89" dirty="0">
                <a:solidFill>
                  <a:schemeClr val="bg1"/>
                </a:solidFill>
              </a:rPr>
              <a:t>Vite et Gourmand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BD63E0-0C8F-E737-7136-2B41E4FB3F2C}"/>
              </a:ext>
            </a:extLst>
          </p:cNvPr>
          <p:cNvSpPr/>
          <p:nvPr/>
        </p:nvSpPr>
        <p:spPr>
          <a:xfrm>
            <a:off x="-1" y="10165240"/>
            <a:ext cx="21599525" cy="1044632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FOOTER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64ED459-8D30-E2B5-C8CB-ED0D8487727A}"/>
              </a:ext>
            </a:extLst>
          </p:cNvPr>
          <p:cNvSpPr txBox="1"/>
          <p:nvPr/>
        </p:nvSpPr>
        <p:spPr>
          <a:xfrm>
            <a:off x="157769" y="11410617"/>
            <a:ext cx="737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Horaires - Mentions légales</a:t>
            </a:r>
            <a:r>
              <a:rPr lang="fr-FR" dirty="0"/>
              <a:t> </a:t>
            </a:r>
            <a:r>
              <a:rPr lang="fr-FR" u="sng" dirty="0"/>
              <a:t>Conditions générales de vente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5036A2D-0C23-2DFB-28F4-60FA1E93D6F1}"/>
              </a:ext>
            </a:extLst>
          </p:cNvPr>
          <p:cNvSpPr txBox="1"/>
          <p:nvPr/>
        </p:nvSpPr>
        <p:spPr>
          <a:xfrm>
            <a:off x="5497933" y="3931891"/>
            <a:ext cx="926431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Nom du menu</a:t>
            </a:r>
          </a:p>
          <a:p>
            <a:endParaRPr lang="fr-FR" sz="1200" dirty="0"/>
          </a:p>
          <a:p>
            <a:r>
              <a:rPr lang="fr-FR" b="1" dirty="0"/>
              <a:t>Thème :</a:t>
            </a:r>
            <a:r>
              <a:rPr lang="fr-FR" dirty="0"/>
              <a:t>   </a:t>
            </a:r>
          </a:p>
          <a:p>
            <a:r>
              <a:rPr lang="fr-FR" dirty="0"/>
              <a:t> </a:t>
            </a:r>
            <a:r>
              <a:rPr lang="fr-FR" b="1" dirty="0"/>
              <a:t>Régime :</a:t>
            </a:r>
            <a:r>
              <a:rPr lang="fr-FR" dirty="0"/>
              <a:t>  </a:t>
            </a:r>
          </a:p>
          <a:p>
            <a:endParaRPr lang="fr-FR" sz="1000" dirty="0"/>
          </a:p>
          <a:p>
            <a:r>
              <a:rPr lang="fr-FR" b="1" dirty="0"/>
              <a:t>Minimum :</a:t>
            </a:r>
            <a:r>
              <a:rPr lang="fr-FR" dirty="0"/>
              <a:t>          </a:t>
            </a:r>
          </a:p>
          <a:p>
            <a:r>
              <a:rPr lang="fr-FR" dirty="0"/>
              <a:t> </a:t>
            </a:r>
            <a:r>
              <a:rPr lang="fr-FR" b="1" dirty="0"/>
              <a:t>Prix :</a:t>
            </a:r>
            <a:r>
              <a:rPr lang="fr-FR" dirty="0"/>
              <a:t>                      </a:t>
            </a:r>
          </a:p>
          <a:p>
            <a:r>
              <a:rPr lang="fr-FR" dirty="0"/>
              <a:t> </a:t>
            </a:r>
            <a:r>
              <a:rPr lang="fr-FR" b="1" dirty="0"/>
              <a:t>Stock :</a:t>
            </a:r>
            <a:r>
              <a:rPr lang="fr-FR" dirty="0"/>
              <a:t> </a:t>
            </a:r>
          </a:p>
          <a:p>
            <a:endParaRPr lang="fr-FR" sz="1000" dirty="0"/>
          </a:p>
          <a:p>
            <a:r>
              <a:rPr lang="fr-FR" b="1" dirty="0"/>
              <a:t>Conditions importantes</a:t>
            </a:r>
          </a:p>
          <a:p>
            <a:r>
              <a:rPr lang="fr-FR" b="1" dirty="0"/>
              <a:t>Conservation </a:t>
            </a:r>
          </a:p>
          <a:p>
            <a:endParaRPr lang="fr-FR" b="1" dirty="0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42379E07-ABE6-5B1C-30F8-76336E6D506D}"/>
              </a:ext>
            </a:extLst>
          </p:cNvPr>
          <p:cNvSpPr/>
          <p:nvPr/>
        </p:nvSpPr>
        <p:spPr>
          <a:xfrm>
            <a:off x="5510462" y="7943499"/>
            <a:ext cx="10948737" cy="702507"/>
          </a:xfrm>
          <a:prstGeom prst="round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Plat : </a:t>
            </a:r>
          </a:p>
          <a:p>
            <a:r>
              <a:rPr lang="fr-FR" b="1" dirty="0">
                <a:solidFill>
                  <a:schemeClr val="tx1"/>
                </a:solidFill>
              </a:rPr>
              <a:t>Allergènes :</a:t>
            </a:r>
            <a:r>
              <a:rPr lang="fr-FR" dirty="0">
                <a:solidFill>
                  <a:schemeClr val="tx1"/>
                </a:solidFill>
              </a:rPr>
              <a:t> 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915E56F4-FA51-1FBB-B1C0-E737E71FC453}"/>
              </a:ext>
            </a:extLst>
          </p:cNvPr>
          <p:cNvSpPr/>
          <p:nvPr/>
        </p:nvSpPr>
        <p:spPr>
          <a:xfrm>
            <a:off x="5510462" y="8746379"/>
            <a:ext cx="10948736" cy="702507"/>
          </a:xfrm>
          <a:prstGeom prst="round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Dessert :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fr-FR" b="1" dirty="0">
                <a:solidFill>
                  <a:schemeClr val="tx1"/>
                </a:solidFill>
              </a:rPr>
              <a:t>Allergènes :</a:t>
            </a:r>
            <a:r>
              <a:rPr lang="fr-FR" dirty="0">
                <a:solidFill>
                  <a:schemeClr val="tx1"/>
                </a:solidFill>
              </a:rPr>
              <a:t> 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02417D8-4657-5F7F-3728-BE7670FADA4F}"/>
              </a:ext>
            </a:extLst>
          </p:cNvPr>
          <p:cNvSpPr/>
          <p:nvPr/>
        </p:nvSpPr>
        <p:spPr>
          <a:xfrm>
            <a:off x="5510462" y="9641456"/>
            <a:ext cx="2447288" cy="48013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Commander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10F16A2-3715-3095-CE4D-AB8754900052}"/>
              </a:ext>
            </a:extLst>
          </p:cNvPr>
          <p:cNvSpPr/>
          <p:nvPr/>
        </p:nvSpPr>
        <p:spPr>
          <a:xfrm>
            <a:off x="5510462" y="7151641"/>
            <a:ext cx="10948736" cy="691485"/>
          </a:xfrm>
          <a:prstGeom prst="round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Entrée :</a:t>
            </a:r>
          </a:p>
          <a:p>
            <a:r>
              <a:rPr lang="fr-FR" b="1" dirty="0">
                <a:solidFill>
                  <a:schemeClr val="tx1"/>
                </a:solidFill>
              </a:rPr>
              <a:t>Allergènes : </a:t>
            </a:r>
            <a:endParaRPr lang="fr-FR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F4A53A-CF14-1E76-7DCC-34F03ED72D54}"/>
              </a:ext>
            </a:extLst>
          </p:cNvPr>
          <p:cNvSpPr/>
          <p:nvPr/>
        </p:nvSpPr>
        <p:spPr>
          <a:xfrm>
            <a:off x="5554650" y="909784"/>
            <a:ext cx="6006662" cy="2921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Image de Menu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A31AC1-22C7-1A2A-E7A1-29D1A611C4DE}"/>
              </a:ext>
            </a:extLst>
          </p:cNvPr>
          <p:cNvSpPr/>
          <p:nvPr/>
        </p:nvSpPr>
        <p:spPr>
          <a:xfrm>
            <a:off x="-3491" y="-11084"/>
            <a:ext cx="21599524" cy="8779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38F49E-F7F5-59EB-1167-452EFC8DB5CC}"/>
              </a:ext>
            </a:extLst>
          </p:cNvPr>
          <p:cNvSpPr/>
          <p:nvPr/>
        </p:nvSpPr>
        <p:spPr>
          <a:xfrm>
            <a:off x="417107" y="108665"/>
            <a:ext cx="751688" cy="650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LOGO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C0F9D0-8274-3366-6A5B-3F4DB717C170}"/>
              </a:ext>
            </a:extLst>
          </p:cNvPr>
          <p:cNvSpPr/>
          <p:nvPr/>
        </p:nvSpPr>
        <p:spPr>
          <a:xfrm>
            <a:off x="18176987" y="316552"/>
            <a:ext cx="518075" cy="1460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7B1026-B48A-AC0B-F8F0-7756F4A71046}"/>
              </a:ext>
            </a:extLst>
          </p:cNvPr>
          <p:cNvSpPr/>
          <p:nvPr/>
        </p:nvSpPr>
        <p:spPr>
          <a:xfrm>
            <a:off x="19091387" y="316552"/>
            <a:ext cx="518075" cy="1585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4B6C07-44B8-B0F1-94D3-7500BF6C6071}"/>
              </a:ext>
            </a:extLst>
          </p:cNvPr>
          <p:cNvSpPr/>
          <p:nvPr/>
        </p:nvSpPr>
        <p:spPr>
          <a:xfrm>
            <a:off x="20005787" y="310489"/>
            <a:ext cx="518076" cy="1460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2F537B-7B35-F7A2-C2C1-1C4DDB790799}"/>
              </a:ext>
            </a:extLst>
          </p:cNvPr>
          <p:cNvSpPr/>
          <p:nvPr/>
        </p:nvSpPr>
        <p:spPr>
          <a:xfrm>
            <a:off x="20920187" y="310489"/>
            <a:ext cx="518076" cy="1646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AA79B415-37ED-343E-6342-2AFE1D7843FF}"/>
              </a:ext>
            </a:extLst>
          </p:cNvPr>
          <p:cNvSpPr txBox="1"/>
          <p:nvPr/>
        </p:nvSpPr>
        <p:spPr>
          <a:xfrm>
            <a:off x="8212721" y="207184"/>
            <a:ext cx="191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Vite &amp; Gourmand</a:t>
            </a:r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1CFABB64-8EC7-85EE-AF00-2F9B3920EED9}"/>
              </a:ext>
            </a:extLst>
          </p:cNvPr>
          <p:cNvCxnSpPr>
            <a:cxnSpLocks/>
          </p:cNvCxnSpPr>
          <p:nvPr/>
        </p:nvCxnSpPr>
        <p:spPr>
          <a:xfrm>
            <a:off x="5554650" y="950562"/>
            <a:ext cx="6026264" cy="28469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E90A50FE-D3A4-8FBE-C11D-4AB8070BB93E}"/>
              </a:ext>
            </a:extLst>
          </p:cNvPr>
          <p:cNvCxnSpPr/>
          <p:nvPr/>
        </p:nvCxnSpPr>
        <p:spPr>
          <a:xfrm flipH="1">
            <a:off x="5554650" y="895914"/>
            <a:ext cx="5884374" cy="2887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8473BC2C-561B-A544-BA1C-EDAEE7D45371}"/>
              </a:ext>
            </a:extLst>
          </p:cNvPr>
          <p:cNvCxnSpPr>
            <a:cxnSpLocks/>
          </p:cNvCxnSpPr>
          <p:nvPr/>
        </p:nvCxnSpPr>
        <p:spPr>
          <a:xfrm>
            <a:off x="6302472" y="6889531"/>
            <a:ext cx="70156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0D79BAF8-682F-0F0E-AF5F-0EF86606B758}"/>
              </a:ext>
            </a:extLst>
          </p:cNvPr>
          <p:cNvCxnSpPr>
            <a:cxnSpLocks/>
          </p:cNvCxnSpPr>
          <p:nvPr/>
        </p:nvCxnSpPr>
        <p:spPr>
          <a:xfrm>
            <a:off x="6952593" y="6621517"/>
            <a:ext cx="6365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4839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10FC0-D2F9-82A1-F751-968DAE27E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3215572-03B3-FBA3-DE80-0773314ABCB0}"/>
              </a:ext>
            </a:extLst>
          </p:cNvPr>
          <p:cNvSpPr txBox="1"/>
          <p:nvPr/>
        </p:nvSpPr>
        <p:spPr>
          <a:xfrm>
            <a:off x="6122079" y="753064"/>
            <a:ext cx="2964558" cy="475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89" dirty="0">
                <a:solidFill>
                  <a:schemeClr val="bg1"/>
                </a:solidFill>
              </a:rPr>
              <a:t>Vite et Gourmand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0A7CE70-54F5-59AA-AE3D-96C1D0E8E0E8}"/>
              </a:ext>
            </a:extLst>
          </p:cNvPr>
          <p:cNvSpPr txBox="1"/>
          <p:nvPr/>
        </p:nvSpPr>
        <p:spPr>
          <a:xfrm>
            <a:off x="6187964" y="727280"/>
            <a:ext cx="2964558" cy="475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</a:rPr>
              <a:t>Vite et Gourmand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D4F345-9285-FCFF-BA45-9991D64BE7BC}"/>
              </a:ext>
            </a:extLst>
          </p:cNvPr>
          <p:cNvSpPr/>
          <p:nvPr/>
        </p:nvSpPr>
        <p:spPr>
          <a:xfrm>
            <a:off x="7472856" y="1820001"/>
            <a:ext cx="7094483" cy="89794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316AFB-1933-0D13-58BA-4988DE39D7D7}"/>
              </a:ext>
            </a:extLst>
          </p:cNvPr>
          <p:cNvSpPr/>
          <p:nvPr/>
        </p:nvSpPr>
        <p:spPr>
          <a:xfrm>
            <a:off x="9073051" y="1921235"/>
            <a:ext cx="5029201" cy="2254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Texte de présentation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75432FD9-8631-A774-E3BA-CB5DF15028A2}"/>
              </a:ext>
            </a:extLst>
          </p:cNvPr>
          <p:cNvSpPr/>
          <p:nvPr/>
        </p:nvSpPr>
        <p:spPr>
          <a:xfrm>
            <a:off x="9073052" y="3955856"/>
            <a:ext cx="5029201" cy="121054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37015997-3A3F-D77D-864C-BE3DA0829AD6}"/>
              </a:ext>
            </a:extLst>
          </p:cNvPr>
          <p:cNvSpPr/>
          <p:nvPr/>
        </p:nvSpPr>
        <p:spPr>
          <a:xfrm>
            <a:off x="9176519" y="4048276"/>
            <a:ext cx="1732340" cy="53866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Voir les menus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972C959F-2864-8E46-9778-1C8A643B1831}"/>
              </a:ext>
            </a:extLst>
          </p:cNvPr>
          <p:cNvSpPr/>
          <p:nvPr/>
        </p:nvSpPr>
        <p:spPr>
          <a:xfrm>
            <a:off x="9073052" y="5344637"/>
            <a:ext cx="5029201" cy="121054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Notre savoir-faire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7CD91DEE-FA53-D5CD-925F-B82537B967C7}"/>
              </a:ext>
            </a:extLst>
          </p:cNvPr>
          <p:cNvSpPr/>
          <p:nvPr/>
        </p:nvSpPr>
        <p:spPr>
          <a:xfrm>
            <a:off x="9073052" y="6738842"/>
            <a:ext cx="5029201" cy="3959327"/>
          </a:xfrm>
          <a:prstGeom prst="roundRect">
            <a:avLst>
              <a:gd name="adj" fmla="val 472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7E74D2D9-78C2-74DE-7335-9FADCC24510B}"/>
              </a:ext>
            </a:extLst>
          </p:cNvPr>
          <p:cNvSpPr/>
          <p:nvPr/>
        </p:nvSpPr>
        <p:spPr>
          <a:xfrm>
            <a:off x="9325581" y="7036082"/>
            <a:ext cx="4555675" cy="9879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Nom— Note</a:t>
            </a:r>
            <a:endParaRPr lang="fr-FR" sz="1600" b="1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Commentaire</a:t>
            </a: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20328665-51F4-E8BF-A23F-86471CAA6BC7}"/>
              </a:ext>
            </a:extLst>
          </p:cNvPr>
          <p:cNvSpPr/>
          <p:nvPr/>
        </p:nvSpPr>
        <p:spPr>
          <a:xfrm>
            <a:off x="9325581" y="8264931"/>
            <a:ext cx="4555675" cy="10023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Nom— Note</a:t>
            </a:r>
            <a:endParaRPr lang="fr-FR" sz="1600" b="1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Commentaire</a:t>
            </a:r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B5013DCF-3E16-E771-0EB7-EDBDCAA04FB0}"/>
              </a:ext>
            </a:extLst>
          </p:cNvPr>
          <p:cNvSpPr/>
          <p:nvPr/>
        </p:nvSpPr>
        <p:spPr>
          <a:xfrm>
            <a:off x="9325582" y="9441845"/>
            <a:ext cx="4555676" cy="87415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Nom— Note</a:t>
            </a:r>
            <a:endParaRPr lang="fr-FR" sz="1600" b="1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Commentaire</a:t>
            </a:r>
            <a:r>
              <a:rPr lang="fr-FR" dirty="0"/>
              <a:t>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4A3719B-C891-3265-012A-F2F6B0A9A8AF}"/>
              </a:ext>
            </a:extLst>
          </p:cNvPr>
          <p:cNvSpPr/>
          <p:nvPr/>
        </p:nvSpPr>
        <p:spPr>
          <a:xfrm>
            <a:off x="7472856" y="10799403"/>
            <a:ext cx="7094482" cy="7958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Footer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08F1F91-D049-A303-2054-4E38A49A326D}"/>
              </a:ext>
            </a:extLst>
          </p:cNvPr>
          <p:cNvSpPr/>
          <p:nvPr/>
        </p:nvSpPr>
        <p:spPr>
          <a:xfrm>
            <a:off x="7472856" y="7838"/>
            <a:ext cx="7094482" cy="17972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31A10B5-B987-1AF8-2220-A95AE58FC02A}"/>
              </a:ext>
            </a:extLst>
          </p:cNvPr>
          <p:cNvSpPr/>
          <p:nvPr/>
        </p:nvSpPr>
        <p:spPr>
          <a:xfrm>
            <a:off x="7851228" y="401976"/>
            <a:ext cx="1008993" cy="1011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Logo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D53CC53-7825-708B-FFAB-A9F59FFAC2A9}"/>
              </a:ext>
            </a:extLst>
          </p:cNvPr>
          <p:cNvSpPr/>
          <p:nvPr/>
        </p:nvSpPr>
        <p:spPr>
          <a:xfrm>
            <a:off x="11148241" y="1140179"/>
            <a:ext cx="518075" cy="1460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7BEFECA-82E1-C413-E2FD-4CED72119A15}"/>
              </a:ext>
            </a:extLst>
          </p:cNvPr>
          <p:cNvSpPr/>
          <p:nvPr/>
        </p:nvSpPr>
        <p:spPr>
          <a:xfrm>
            <a:off x="12062641" y="1140179"/>
            <a:ext cx="518075" cy="1585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9B984C7-9B48-8E56-2F7E-545FDF98CEF5}"/>
              </a:ext>
            </a:extLst>
          </p:cNvPr>
          <p:cNvSpPr/>
          <p:nvPr/>
        </p:nvSpPr>
        <p:spPr>
          <a:xfrm>
            <a:off x="12977041" y="1134116"/>
            <a:ext cx="518076" cy="1460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8F66C54-0162-018E-36C7-63449831BB20}"/>
              </a:ext>
            </a:extLst>
          </p:cNvPr>
          <p:cNvSpPr/>
          <p:nvPr/>
        </p:nvSpPr>
        <p:spPr>
          <a:xfrm>
            <a:off x="13891441" y="1134116"/>
            <a:ext cx="518076" cy="1646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9347BE45-9742-FB8F-2963-FDB9BA527450}"/>
              </a:ext>
            </a:extLst>
          </p:cNvPr>
          <p:cNvSpPr txBox="1"/>
          <p:nvPr/>
        </p:nvSpPr>
        <p:spPr>
          <a:xfrm>
            <a:off x="9007141" y="932278"/>
            <a:ext cx="191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Vite &amp; Gourmand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6AB7AEF-EE25-E8DA-E379-AB40E3D2D37A}"/>
              </a:ext>
            </a:extLst>
          </p:cNvPr>
          <p:cNvSpPr/>
          <p:nvPr/>
        </p:nvSpPr>
        <p:spPr>
          <a:xfrm>
            <a:off x="7472855" y="11587436"/>
            <a:ext cx="7094483" cy="5983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Horaires Mention légales Conditions générales de vente</a:t>
            </a:r>
          </a:p>
        </p:txBody>
      </p:sp>
    </p:spTree>
    <p:extLst>
      <p:ext uri="{BB962C8B-B14F-4D97-AF65-F5344CB8AC3E}">
        <p14:creationId xmlns:p14="http://schemas.microsoft.com/office/powerpoint/2010/main" val="1548558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6D202-CDB3-6907-FC59-19FC071AD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217FF21-1EA2-8E4A-6237-68766E0D6EC0}"/>
              </a:ext>
            </a:extLst>
          </p:cNvPr>
          <p:cNvSpPr/>
          <p:nvPr/>
        </p:nvSpPr>
        <p:spPr>
          <a:xfrm>
            <a:off x="6921061" y="0"/>
            <a:ext cx="9774620" cy="16451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1F8917-B468-B637-C376-ACA3093AC08F}"/>
              </a:ext>
            </a:extLst>
          </p:cNvPr>
          <p:cNvSpPr/>
          <p:nvPr/>
        </p:nvSpPr>
        <p:spPr>
          <a:xfrm>
            <a:off x="7066349" y="341945"/>
            <a:ext cx="1390168" cy="10043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Logo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5FDF7-9DB2-4A08-F3C1-D118334851F9}"/>
              </a:ext>
            </a:extLst>
          </p:cNvPr>
          <p:cNvSpPr/>
          <p:nvPr/>
        </p:nvSpPr>
        <p:spPr>
          <a:xfrm>
            <a:off x="6921062" y="1634834"/>
            <a:ext cx="9774621" cy="89136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DFBA8B96-F02C-B95D-7452-BA6A0880E525}"/>
              </a:ext>
            </a:extLst>
          </p:cNvPr>
          <p:cNvSpPr/>
          <p:nvPr/>
        </p:nvSpPr>
        <p:spPr>
          <a:xfrm>
            <a:off x="8828118" y="2072623"/>
            <a:ext cx="6929122" cy="7981510"/>
          </a:xfrm>
          <a:prstGeom prst="roundRect">
            <a:avLst>
              <a:gd name="adj" fmla="val 472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6FA0A081-E238-D70A-BE14-7469DCBA03C1}"/>
              </a:ext>
            </a:extLst>
          </p:cNvPr>
          <p:cNvSpPr/>
          <p:nvPr/>
        </p:nvSpPr>
        <p:spPr>
          <a:xfrm>
            <a:off x="9135235" y="2617664"/>
            <a:ext cx="6276709" cy="5065022"/>
          </a:xfrm>
          <a:prstGeom prst="roundRect">
            <a:avLst>
              <a:gd name="adj" fmla="val 482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b="1" dirty="0">
              <a:solidFill>
                <a:schemeClr val="tx1"/>
              </a:solidFill>
            </a:endParaRPr>
          </a:p>
          <a:p>
            <a:endParaRPr lang="fr-FR" b="1" dirty="0">
              <a:solidFill>
                <a:schemeClr val="tx1"/>
              </a:solidFill>
            </a:endParaRPr>
          </a:p>
          <a:p>
            <a:endParaRPr lang="fr-FR" b="1" dirty="0">
              <a:solidFill>
                <a:schemeClr val="tx1"/>
              </a:solidFill>
            </a:endParaRPr>
          </a:p>
          <a:p>
            <a:endParaRPr lang="fr-FR" b="1" dirty="0">
              <a:solidFill>
                <a:schemeClr val="tx1"/>
              </a:solidFill>
            </a:endParaRPr>
          </a:p>
          <a:p>
            <a:endParaRPr lang="fr-FR" b="1" dirty="0">
              <a:solidFill>
                <a:schemeClr val="tx1"/>
              </a:solidFill>
            </a:endParaRPr>
          </a:p>
          <a:p>
            <a:endParaRPr lang="fr-FR" b="1" dirty="0">
              <a:solidFill>
                <a:schemeClr val="tx1"/>
              </a:solidFill>
            </a:endParaRPr>
          </a:p>
          <a:p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olidFill>
                  <a:schemeClr val="tx1"/>
                </a:solidFill>
              </a:rPr>
              <a:t>Nom du menu</a:t>
            </a:r>
            <a:endParaRPr lang="fr-FR" sz="1600" b="1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Détail du menu</a:t>
            </a:r>
          </a:p>
          <a:p>
            <a:r>
              <a:rPr lang="fr-FR" dirty="0">
                <a:solidFill>
                  <a:schemeClr val="tx1"/>
                </a:solidFill>
              </a:rPr>
              <a:t>Nombre de personnes . Prix.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05ADF6D-E7AD-17E9-8189-2040AC0750D1}"/>
              </a:ext>
            </a:extLst>
          </p:cNvPr>
          <p:cNvSpPr/>
          <p:nvPr/>
        </p:nvSpPr>
        <p:spPr>
          <a:xfrm>
            <a:off x="6921062" y="10799318"/>
            <a:ext cx="9774620" cy="7900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Footer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89008C1-51DB-437F-BC7E-63B078F2808A}"/>
              </a:ext>
            </a:extLst>
          </p:cNvPr>
          <p:cNvSpPr/>
          <p:nvPr/>
        </p:nvSpPr>
        <p:spPr>
          <a:xfrm>
            <a:off x="6921061" y="11599657"/>
            <a:ext cx="9774621" cy="5939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Horaires Mention légales Conditions générales de vente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F5C01346-0F60-8070-F034-613312371A89}"/>
              </a:ext>
            </a:extLst>
          </p:cNvPr>
          <p:cNvSpPr/>
          <p:nvPr/>
        </p:nvSpPr>
        <p:spPr>
          <a:xfrm>
            <a:off x="9660818" y="7082301"/>
            <a:ext cx="2386779" cy="534716"/>
          </a:xfrm>
          <a:prstGeom prst="round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Voir le détail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5D072EC-E0DA-C12E-8596-1F3F723CD659}"/>
              </a:ext>
            </a:extLst>
          </p:cNvPr>
          <p:cNvSpPr/>
          <p:nvPr/>
        </p:nvSpPr>
        <p:spPr>
          <a:xfrm>
            <a:off x="9830187" y="3159517"/>
            <a:ext cx="4800425" cy="21137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Image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20E7C35D-7BC2-1D43-D371-4400BD690862}"/>
              </a:ext>
            </a:extLst>
          </p:cNvPr>
          <p:cNvSpPr txBox="1"/>
          <p:nvPr/>
        </p:nvSpPr>
        <p:spPr>
          <a:xfrm>
            <a:off x="9224566" y="965087"/>
            <a:ext cx="2641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Vite &amp; Gourmand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4DB2D84-60A9-B45C-F816-D34F01145183}"/>
              </a:ext>
            </a:extLst>
          </p:cNvPr>
          <p:cNvSpPr/>
          <p:nvPr/>
        </p:nvSpPr>
        <p:spPr>
          <a:xfrm>
            <a:off x="13040120" y="1140179"/>
            <a:ext cx="518075" cy="1460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7470F4D-8BFE-98D0-1364-06A89EC4BA7B}"/>
              </a:ext>
            </a:extLst>
          </p:cNvPr>
          <p:cNvSpPr/>
          <p:nvPr/>
        </p:nvSpPr>
        <p:spPr>
          <a:xfrm>
            <a:off x="13954520" y="1140179"/>
            <a:ext cx="518075" cy="1585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504DB3B-DEED-4485-E262-D7D26C6A3D5E}"/>
              </a:ext>
            </a:extLst>
          </p:cNvPr>
          <p:cNvSpPr/>
          <p:nvPr/>
        </p:nvSpPr>
        <p:spPr>
          <a:xfrm>
            <a:off x="14868920" y="1134116"/>
            <a:ext cx="518076" cy="1460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D693DC3-2208-01FE-1793-C3842CF435A4}"/>
              </a:ext>
            </a:extLst>
          </p:cNvPr>
          <p:cNvSpPr/>
          <p:nvPr/>
        </p:nvSpPr>
        <p:spPr>
          <a:xfrm>
            <a:off x="15783320" y="1134116"/>
            <a:ext cx="518076" cy="1646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731AD19E-04DE-99AB-533F-48896228B477}"/>
              </a:ext>
            </a:extLst>
          </p:cNvPr>
          <p:cNvCxnSpPr/>
          <p:nvPr/>
        </p:nvCxnSpPr>
        <p:spPr>
          <a:xfrm>
            <a:off x="9830187" y="3159517"/>
            <a:ext cx="4800425" cy="2113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CB164D7C-3648-4E38-233C-EA2ADB7F5D10}"/>
              </a:ext>
            </a:extLst>
          </p:cNvPr>
          <p:cNvCxnSpPr/>
          <p:nvPr/>
        </p:nvCxnSpPr>
        <p:spPr>
          <a:xfrm flipH="1">
            <a:off x="9830187" y="3159517"/>
            <a:ext cx="4800425" cy="2113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016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A8100-D430-6D30-6B09-C6B882B44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349EC0DC-2A05-A405-4A2E-0D95F6A0019F}"/>
              </a:ext>
            </a:extLst>
          </p:cNvPr>
          <p:cNvSpPr txBox="1">
            <a:spLocks/>
          </p:cNvSpPr>
          <p:nvPr/>
        </p:nvSpPr>
        <p:spPr>
          <a:xfrm>
            <a:off x="4524704" y="0"/>
            <a:ext cx="9495956" cy="1797269"/>
          </a:xfrm>
          <a:prstGeom prst="rect">
            <a:avLst/>
          </a:prstGeom>
          <a:solidFill>
            <a:srgbClr val="8B2E16"/>
          </a:solidFill>
        </p:spPr>
        <p:txBody>
          <a:bodyPr>
            <a:normAutofit/>
          </a:bodyPr>
          <a:lstStyle>
            <a:lvl1pPr algn="l" defTabSz="16199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7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915" b="1">
                <a:solidFill>
                  <a:schemeClr val="bg1"/>
                </a:solidFill>
              </a:rPr>
              <a:t> </a:t>
            </a:r>
            <a:endParaRPr lang="fr-FR" sz="1915" b="1" dirty="0">
              <a:solidFill>
                <a:schemeClr val="bg1"/>
              </a:solidFill>
            </a:endParaRPr>
          </a:p>
        </p:txBody>
      </p:sp>
      <p:pic>
        <p:nvPicPr>
          <p:cNvPr id="7" name="Image 6" descr="Logo Vite &amp; Gourmand">
            <a:extLst>
              <a:ext uri="{FF2B5EF4-FFF2-40B4-BE49-F238E27FC236}">
                <a16:creationId xmlns:a16="http://schemas.microsoft.com/office/drawing/2014/main" id="{F4F5E68D-F9D5-F911-98C3-FA3837A52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355" y="205727"/>
            <a:ext cx="1398073" cy="141812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233BEAF-1E94-4E78-CF06-43E2BF7891B5}"/>
              </a:ext>
            </a:extLst>
          </p:cNvPr>
          <p:cNvSpPr/>
          <p:nvPr/>
        </p:nvSpPr>
        <p:spPr>
          <a:xfrm>
            <a:off x="8655268" y="613098"/>
            <a:ext cx="5344511" cy="792820"/>
          </a:xfrm>
          <a:prstGeom prst="rect">
            <a:avLst/>
          </a:prstGeom>
          <a:solidFill>
            <a:srgbClr val="8B2E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723" b="1" dirty="0">
                <a:solidFill>
                  <a:schemeClr val="bg1"/>
                </a:solidFill>
              </a:rPr>
              <a:t>Accueil               Menus            Contact            Connexion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3191EB-6261-2394-0799-0171DD890FCE}"/>
              </a:ext>
            </a:extLst>
          </p:cNvPr>
          <p:cNvSpPr/>
          <p:nvPr/>
        </p:nvSpPr>
        <p:spPr>
          <a:xfrm>
            <a:off x="4524703" y="1774537"/>
            <a:ext cx="9475075" cy="10396319"/>
          </a:xfrm>
          <a:prstGeom prst="rect">
            <a:avLst/>
          </a:prstGeom>
          <a:solidFill>
            <a:srgbClr val="FFF7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349676-8D46-E075-08BE-5D6C67CC0715}"/>
              </a:ext>
            </a:extLst>
          </p:cNvPr>
          <p:cNvSpPr/>
          <p:nvPr/>
        </p:nvSpPr>
        <p:spPr>
          <a:xfrm>
            <a:off x="4524703" y="10776671"/>
            <a:ext cx="9475075" cy="795871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Horaires</a:t>
            </a:r>
          </a:p>
          <a:p>
            <a:endParaRPr lang="fr-FR" b="1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Lundi à dimanche : 8h00 - 20h00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83E4C02-EFA8-DFC1-0880-B5AA2C472739}"/>
              </a:ext>
            </a:extLst>
          </p:cNvPr>
          <p:cNvSpPr txBox="1"/>
          <p:nvPr/>
        </p:nvSpPr>
        <p:spPr>
          <a:xfrm>
            <a:off x="4524703" y="11623288"/>
            <a:ext cx="4703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>
                <a:solidFill>
                  <a:srgbClr val="5518AB"/>
                </a:solidFill>
              </a:rPr>
              <a:t>Mentions légales</a:t>
            </a:r>
            <a:r>
              <a:rPr lang="fr-FR" dirty="0">
                <a:solidFill>
                  <a:srgbClr val="5518AB"/>
                </a:solidFill>
              </a:rPr>
              <a:t> </a:t>
            </a:r>
            <a:r>
              <a:rPr lang="fr-FR" u="sng" dirty="0">
                <a:solidFill>
                  <a:srgbClr val="5518AB"/>
                </a:solidFill>
              </a:rPr>
              <a:t>Conditions générales de vente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D17CB97D-D924-7934-4F4D-1737FCEFC7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962" y="1995078"/>
            <a:ext cx="6148551" cy="2413139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4EA5420C-19E8-1E0D-17E9-0EDB0745409F}"/>
              </a:ext>
            </a:extLst>
          </p:cNvPr>
          <p:cNvSpPr txBox="1"/>
          <p:nvPr/>
        </p:nvSpPr>
        <p:spPr>
          <a:xfrm>
            <a:off x="6138481" y="4490702"/>
            <a:ext cx="6180083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Menu festif complet pour repas de Noël.</a:t>
            </a:r>
          </a:p>
          <a:p>
            <a:r>
              <a:rPr lang="fr-FR" b="1" dirty="0"/>
              <a:t>Thème :</a:t>
            </a:r>
            <a:r>
              <a:rPr lang="fr-FR" dirty="0"/>
              <a:t> Noël · </a:t>
            </a:r>
            <a:r>
              <a:rPr lang="fr-FR" b="1" dirty="0"/>
              <a:t>Régime :</a:t>
            </a:r>
            <a:r>
              <a:rPr lang="fr-FR" dirty="0"/>
              <a:t> Classique</a:t>
            </a:r>
          </a:p>
          <a:p>
            <a:r>
              <a:rPr lang="fr-FR" b="1" dirty="0"/>
              <a:t>Minimum :</a:t>
            </a:r>
            <a:r>
              <a:rPr lang="fr-FR" dirty="0"/>
              <a:t> 10 personnes · </a:t>
            </a:r>
            <a:r>
              <a:rPr lang="fr-FR" b="1" dirty="0"/>
              <a:t>Prix :</a:t>
            </a:r>
            <a:r>
              <a:rPr lang="fr-FR" dirty="0"/>
              <a:t> 350,00 € · </a:t>
            </a:r>
            <a:r>
              <a:rPr lang="fr-FR" b="1" dirty="0"/>
              <a:t>Stock :</a:t>
            </a:r>
            <a:r>
              <a:rPr lang="fr-FR" dirty="0"/>
              <a:t> 5</a:t>
            </a:r>
          </a:p>
          <a:p>
            <a:endParaRPr lang="fr-FR" dirty="0"/>
          </a:p>
          <a:p>
            <a:r>
              <a:rPr lang="fr-FR" b="1" dirty="0"/>
              <a:t>Conditions importantes</a:t>
            </a:r>
          </a:p>
          <a:p>
            <a:endParaRPr lang="fr-FR" sz="800" b="1" dirty="0"/>
          </a:p>
          <a:p>
            <a:r>
              <a:rPr lang="fr-FR" dirty="0"/>
              <a:t>Commande au minimum 14 jours avant. Conservation au frais entre 0 et 4 °C.</a:t>
            </a:r>
          </a:p>
          <a:p>
            <a:endParaRPr lang="fr-FR" sz="800" dirty="0"/>
          </a:p>
          <a:p>
            <a:r>
              <a:rPr lang="fr-FR" b="1" dirty="0"/>
              <a:t>Plats</a:t>
            </a:r>
          </a:p>
          <a:p>
            <a:endParaRPr lang="fr-FR" dirty="0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C0FE3CFF-5B03-26B9-751B-1302CB058ABF}"/>
              </a:ext>
            </a:extLst>
          </p:cNvPr>
          <p:cNvSpPr/>
          <p:nvPr/>
        </p:nvSpPr>
        <p:spPr>
          <a:xfrm>
            <a:off x="6311903" y="7171758"/>
            <a:ext cx="5833241" cy="617563"/>
          </a:xfrm>
          <a:prstGeom prst="roundRect">
            <a:avLst/>
          </a:prstGeom>
          <a:solidFill>
            <a:srgbClr val="FFF1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Entrée : Velouté de potimarron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Entrée chaude de saison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76DD180D-0561-1CDC-CD05-300ADFA063D6}"/>
              </a:ext>
            </a:extLst>
          </p:cNvPr>
          <p:cNvSpPr/>
          <p:nvPr/>
        </p:nvSpPr>
        <p:spPr>
          <a:xfrm>
            <a:off x="6311903" y="8065683"/>
            <a:ext cx="5833241" cy="799823"/>
          </a:xfrm>
          <a:prstGeom prst="roundRect">
            <a:avLst/>
          </a:prstGeom>
          <a:solidFill>
            <a:srgbClr val="FFF1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Plat : Suprême de volaille sauce morilles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Plat traiteur classique</a:t>
            </a:r>
          </a:p>
          <a:p>
            <a:r>
              <a:rPr lang="fr-FR" b="1" dirty="0">
                <a:solidFill>
                  <a:schemeClr val="tx1"/>
                </a:solidFill>
              </a:rPr>
              <a:t>Allergènes :</a:t>
            </a:r>
            <a:r>
              <a:rPr lang="fr-FR" dirty="0">
                <a:solidFill>
                  <a:schemeClr val="tx1"/>
                </a:solidFill>
              </a:rPr>
              <a:t> lait, sulfites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E9C2770F-77EB-7C99-07A4-39CD7D806475}"/>
              </a:ext>
            </a:extLst>
          </p:cNvPr>
          <p:cNvSpPr/>
          <p:nvPr/>
        </p:nvSpPr>
        <p:spPr>
          <a:xfrm>
            <a:off x="6345618" y="9241481"/>
            <a:ext cx="5833241" cy="783241"/>
          </a:xfrm>
          <a:prstGeom prst="roundRect">
            <a:avLst/>
          </a:prstGeom>
          <a:solidFill>
            <a:srgbClr val="FFF1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Dessert : Bûche chocolat noisette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Dessert de fête</a:t>
            </a:r>
          </a:p>
          <a:p>
            <a:r>
              <a:rPr lang="fr-FR" b="1" dirty="0">
                <a:solidFill>
                  <a:schemeClr val="tx1"/>
                </a:solidFill>
              </a:rPr>
              <a:t>Allergènes :</a:t>
            </a:r>
            <a:r>
              <a:rPr lang="fr-FR" dirty="0">
                <a:solidFill>
                  <a:schemeClr val="tx1"/>
                </a:solidFill>
              </a:rPr>
              <a:t> fruits à coque, gluten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F995A0E9-EDA1-510C-7D2D-30C18115BECB}"/>
              </a:ext>
            </a:extLst>
          </p:cNvPr>
          <p:cNvSpPr/>
          <p:nvPr/>
        </p:nvSpPr>
        <p:spPr>
          <a:xfrm>
            <a:off x="6337737" y="10247486"/>
            <a:ext cx="2317531" cy="425830"/>
          </a:xfrm>
          <a:prstGeom prst="roundRect">
            <a:avLst/>
          </a:prstGeom>
          <a:solidFill>
            <a:srgbClr val="E58A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Commander ce menu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CB8B449-EB53-4461-F455-400D7EA645CC}"/>
              </a:ext>
            </a:extLst>
          </p:cNvPr>
          <p:cNvSpPr txBox="1"/>
          <p:nvPr/>
        </p:nvSpPr>
        <p:spPr>
          <a:xfrm>
            <a:off x="6187964" y="727280"/>
            <a:ext cx="2964558" cy="475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</a:rPr>
              <a:t>Vite et Gourmand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8CF538-E3D6-1D5D-D7AB-48D7952966DC}"/>
              </a:ext>
            </a:extLst>
          </p:cNvPr>
          <p:cNvSpPr/>
          <p:nvPr/>
        </p:nvSpPr>
        <p:spPr>
          <a:xfrm>
            <a:off x="14265607" y="24881"/>
            <a:ext cx="7094482" cy="17972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EBCB42-B828-9AED-5FE9-1DA4435614F1}"/>
              </a:ext>
            </a:extLst>
          </p:cNvPr>
          <p:cNvSpPr/>
          <p:nvPr/>
        </p:nvSpPr>
        <p:spPr>
          <a:xfrm>
            <a:off x="14643979" y="419019"/>
            <a:ext cx="1008993" cy="1011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Logo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75FB2F-422B-6012-4D0B-C1636BF2AFED}"/>
              </a:ext>
            </a:extLst>
          </p:cNvPr>
          <p:cNvSpPr/>
          <p:nvPr/>
        </p:nvSpPr>
        <p:spPr>
          <a:xfrm>
            <a:off x="14265607" y="1822150"/>
            <a:ext cx="7094483" cy="89794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0B0D3980-07AA-0F8A-C8C9-194744A2F5C7}"/>
              </a:ext>
            </a:extLst>
          </p:cNvPr>
          <p:cNvSpPr/>
          <p:nvPr/>
        </p:nvSpPr>
        <p:spPr>
          <a:xfrm>
            <a:off x="15865799" y="9239990"/>
            <a:ext cx="5029201" cy="720177"/>
          </a:xfrm>
          <a:prstGeom prst="roundRect">
            <a:avLst>
              <a:gd name="adj" fmla="val 24063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Dessert</a:t>
            </a:r>
          </a:p>
          <a:p>
            <a:r>
              <a:rPr lang="fr-FR" b="1" dirty="0">
                <a:solidFill>
                  <a:schemeClr val="tx1"/>
                </a:solidFill>
              </a:rPr>
              <a:t>Allergènes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231964BB-4DAF-3C32-E8D5-81B8EAAD1E2E}"/>
              </a:ext>
            </a:extLst>
          </p:cNvPr>
          <p:cNvSpPr/>
          <p:nvPr/>
        </p:nvSpPr>
        <p:spPr>
          <a:xfrm>
            <a:off x="15865799" y="8357967"/>
            <a:ext cx="5029201" cy="720177"/>
          </a:xfrm>
          <a:prstGeom prst="roundRect">
            <a:avLst>
              <a:gd name="adj" fmla="val 1864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</a:rPr>
              <a:t>Plat</a:t>
            </a:r>
          </a:p>
          <a:p>
            <a:r>
              <a:rPr lang="fr-FR" b="1" dirty="0">
                <a:solidFill>
                  <a:schemeClr val="tx1"/>
                </a:solidFill>
              </a:rPr>
              <a:t>Allergènes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389CE3-20BC-264B-6CA3-C9009C138DB2}"/>
              </a:ext>
            </a:extLst>
          </p:cNvPr>
          <p:cNvSpPr/>
          <p:nvPr/>
        </p:nvSpPr>
        <p:spPr>
          <a:xfrm>
            <a:off x="14265607" y="10801552"/>
            <a:ext cx="7094482" cy="7958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Footer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9ADF41-87E7-B478-414F-F02558C2557D}"/>
              </a:ext>
            </a:extLst>
          </p:cNvPr>
          <p:cNvSpPr/>
          <p:nvPr/>
        </p:nvSpPr>
        <p:spPr>
          <a:xfrm>
            <a:off x="14265606" y="11597423"/>
            <a:ext cx="7094483" cy="5983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Horaires Mention légales Conditions générales de vente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01E02C8F-EDC2-0A8D-50DC-9B3E8C6CA502}"/>
              </a:ext>
            </a:extLst>
          </p:cNvPr>
          <p:cNvSpPr/>
          <p:nvPr/>
        </p:nvSpPr>
        <p:spPr>
          <a:xfrm>
            <a:off x="15865799" y="10122013"/>
            <a:ext cx="2441955" cy="53866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Commander ce menu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7BA63BC-EA8B-D018-23EE-3D45D2F5E607}"/>
              </a:ext>
            </a:extLst>
          </p:cNvPr>
          <p:cNvSpPr/>
          <p:nvPr/>
        </p:nvSpPr>
        <p:spPr>
          <a:xfrm>
            <a:off x="16457939" y="1856010"/>
            <a:ext cx="3484180" cy="21293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Image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16A0161-A351-EAA9-A602-B7F07E66D3F4}"/>
              </a:ext>
            </a:extLst>
          </p:cNvPr>
          <p:cNvSpPr/>
          <p:nvPr/>
        </p:nvSpPr>
        <p:spPr>
          <a:xfrm>
            <a:off x="17940992" y="1157222"/>
            <a:ext cx="518075" cy="1460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BAA16BE-B6FD-B8C0-6446-C8307BAEA978}"/>
              </a:ext>
            </a:extLst>
          </p:cNvPr>
          <p:cNvSpPr/>
          <p:nvPr/>
        </p:nvSpPr>
        <p:spPr>
          <a:xfrm>
            <a:off x="18855392" y="1157222"/>
            <a:ext cx="518075" cy="1585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2DBAFF-CD50-4C29-6139-39859CC6E7AD}"/>
              </a:ext>
            </a:extLst>
          </p:cNvPr>
          <p:cNvSpPr/>
          <p:nvPr/>
        </p:nvSpPr>
        <p:spPr>
          <a:xfrm>
            <a:off x="19769792" y="1151159"/>
            <a:ext cx="518076" cy="1460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BA8C605-933C-6B45-92B1-C59B741FFEC6}"/>
              </a:ext>
            </a:extLst>
          </p:cNvPr>
          <p:cNvSpPr/>
          <p:nvPr/>
        </p:nvSpPr>
        <p:spPr>
          <a:xfrm>
            <a:off x="20684192" y="1151159"/>
            <a:ext cx="518076" cy="1646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0EE5B042-CD50-21FC-5C0B-4850F378AA31}"/>
              </a:ext>
            </a:extLst>
          </p:cNvPr>
          <p:cNvSpPr txBox="1"/>
          <p:nvPr/>
        </p:nvSpPr>
        <p:spPr>
          <a:xfrm>
            <a:off x="15799892" y="949321"/>
            <a:ext cx="191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Vite &amp; Gourmand</a:t>
            </a:r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195CC063-246A-8B3E-E5D9-B9A8D335BB5D}"/>
              </a:ext>
            </a:extLst>
          </p:cNvPr>
          <p:cNvSpPr/>
          <p:nvPr/>
        </p:nvSpPr>
        <p:spPr>
          <a:xfrm>
            <a:off x="15862787" y="7577218"/>
            <a:ext cx="5029202" cy="552457"/>
          </a:xfrm>
          <a:prstGeom prst="roundRect">
            <a:avLst>
              <a:gd name="adj" fmla="val 1864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b="1" dirty="0">
              <a:solidFill>
                <a:schemeClr val="tx1"/>
              </a:solidFill>
            </a:endParaRPr>
          </a:p>
          <a:p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olidFill>
                  <a:schemeClr val="tx1"/>
                </a:solidFill>
              </a:rPr>
              <a:t>Entrée</a:t>
            </a:r>
          </a:p>
          <a:p>
            <a:endParaRPr lang="fr-FR" b="1" dirty="0">
              <a:solidFill>
                <a:schemeClr val="tx1"/>
              </a:solidFill>
            </a:endParaRPr>
          </a:p>
          <a:p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962DFCFF-1657-6F72-A396-751194F969C6}"/>
              </a:ext>
            </a:extLst>
          </p:cNvPr>
          <p:cNvSpPr txBox="1"/>
          <p:nvPr/>
        </p:nvSpPr>
        <p:spPr>
          <a:xfrm>
            <a:off x="15865799" y="3933630"/>
            <a:ext cx="5029201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Menu festif complet pour repas de Noël</a:t>
            </a:r>
          </a:p>
          <a:p>
            <a:endParaRPr lang="fr-FR" sz="1200" dirty="0"/>
          </a:p>
          <a:p>
            <a:r>
              <a:rPr lang="fr-FR" b="1" dirty="0"/>
              <a:t>Thème :</a:t>
            </a:r>
            <a:r>
              <a:rPr lang="fr-FR" dirty="0"/>
              <a:t> </a:t>
            </a:r>
          </a:p>
          <a:p>
            <a:r>
              <a:rPr lang="fr-FR" b="1" dirty="0"/>
              <a:t>Régime :</a:t>
            </a:r>
            <a:r>
              <a:rPr lang="fr-FR" dirty="0"/>
              <a:t> </a:t>
            </a:r>
          </a:p>
          <a:p>
            <a:endParaRPr lang="fr-FR" sz="1200" b="1" dirty="0"/>
          </a:p>
          <a:p>
            <a:r>
              <a:rPr lang="fr-FR" b="1" dirty="0"/>
              <a:t>Minimum :</a:t>
            </a:r>
            <a:r>
              <a:rPr lang="fr-FR" dirty="0"/>
              <a:t> </a:t>
            </a:r>
          </a:p>
          <a:p>
            <a:r>
              <a:rPr lang="fr-FR" b="1" dirty="0"/>
              <a:t>Prix :</a:t>
            </a:r>
            <a:r>
              <a:rPr lang="fr-FR" dirty="0"/>
              <a:t> </a:t>
            </a:r>
          </a:p>
          <a:p>
            <a:r>
              <a:rPr lang="fr-FR" b="1" dirty="0"/>
              <a:t>Stock :</a:t>
            </a:r>
            <a:r>
              <a:rPr lang="fr-FR" dirty="0"/>
              <a:t> </a:t>
            </a:r>
          </a:p>
          <a:p>
            <a:endParaRPr lang="fr-FR" sz="1200" dirty="0"/>
          </a:p>
          <a:p>
            <a:r>
              <a:rPr lang="fr-FR" b="1" dirty="0"/>
              <a:t>Conditions importantes</a:t>
            </a:r>
          </a:p>
          <a:p>
            <a:r>
              <a:rPr lang="fr-FR" b="1" dirty="0"/>
              <a:t>…</a:t>
            </a:r>
          </a:p>
          <a:p>
            <a:r>
              <a:rPr lang="fr-FR" b="1" dirty="0"/>
              <a:t>Conservation</a:t>
            </a:r>
            <a:endParaRPr lang="fr-FR" sz="800" b="1" dirty="0"/>
          </a:p>
          <a:p>
            <a:endParaRPr lang="fr-FR" sz="1200" b="1" dirty="0"/>
          </a:p>
          <a:p>
            <a:r>
              <a:rPr lang="fr-FR" b="1" dirty="0"/>
              <a:t>Plats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246890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986</TotalTime>
  <Words>1336</Words>
  <Application>Microsoft Office PowerPoint</Application>
  <PresentationFormat>Personnalisé</PresentationFormat>
  <Paragraphs>383</Paragraphs>
  <Slides>17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Thème Office</vt:lpstr>
      <vt:lpstr> </vt:lpstr>
      <vt:lpstr>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Poup Poupette</dc:creator>
  <cp:lastModifiedBy>Poup Poupette</cp:lastModifiedBy>
  <cp:revision>52</cp:revision>
  <dcterms:created xsi:type="dcterms:W3CDTF">2026-07-14T18:14:48Z</dcterms:created>
  <dcterms:modified xsi:type="dcterms:W3CDTF">2026-07-16T22:26:08Z</dcterms:modified>
</cp:coreProperties>
</file>